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Urbanist" panose="02020500000000000000" charset="0"/>
      <p:regular r:id="rId14"/>
      <p:bold r:id="rId15"/>
      <p:italic r:id="rId16"/>
      <p:boldItalic r:id="rId17"/>
    </p:embeddedFont>
    <p:embeddedFont>
      <p:font typeface="Urbanist Medium" panose="02020500000000000000"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BB70B-8E16-4FB8-A670-2A3184EA83A3}" v="1" dt="2026-06-02T08:27:01.622"/>
  </p1510:revLst>
</p1510:revInfo>
</file>

<file path=ppt/tableStyles.xml><?xml version="1.0" encoding="utf-8"?>
<a:tblStyleLst xmlns:a="http://schemas.openxmlformats.org/drawingml/2006/main" def="{E0B4A890-48B0-4043-9169-83751FDA643A}">
  <a:tblStyle styleId="{E0B4A890-48B0-4043-9169-83751FDA643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tertsai@outlook.com" userId="e9d72a7dd8d43541" providerId="LiveId" clId="{C006AC16-6F5C-424B-9670-C28FAB9B523E}"/>
    <pc:docChg chg="undo custSel modSld">
      <pc:chgData name="mastertsai@outlook.com" userId="e9d72a7dd8d43541" providerId="LiveId" clId="{C006AC16-6F5C-424B-9670-C28FAB9B523E}" dt="2026-06-02T08:27:21.080" v="71" actId="207"/>
      <pc:docMkLst>
        <pc:docMk/>
      </pc:docMkLst>
      <pc:sldChg chg="delSp mod">
        <pc:chgData name="mastertsai@outlook.com" userId="e9d72a7dd8d43541" providerId="LiveId" clId="{C006AC16-6F5C-424B-9670-C28FAB9B523E}" dt="2026-05-19T12:41:28.277" v="1" actId="478"/>
        <pc:sldMkLst>
          <pc:docMk/>
          <pc:sldMk cId="0" sldId="260"/>
        </pc:sldMkLst>
      </pc:sldChg>
      <pc:sldChg chg="delSp modSp mod">
        <pc:chgData name="mastertsai@outlook.com" userId="e9d72a7dd8d43541" providerId="LiveId" clId="{C006AC16-6F5C-424B-9670-C28FAB9B523E}" dt="2026-06-02T08:23:44.192" v="8" actId="1035"/>
        <pc:sldMkLst>
          <pc:docMk/>
          <pc:sldMk cId="0" sldId="261"/>
        </pc:sldMkLst>
        <pc:picChg chg="mod">
          <ac:chgData name="mastertsai@outlook.com" userId="e9d72a7dd8d43541" providerId="LiveId" clId="{C006AC16-6F5C-424B-9670-C28FAB9B523E}" dt="2026-06-02T08:23:44.192" v="8" actId="1035"/>
          <ac:picMkLst>
            <pc:docMk/>
            <pc:sldMk cId="0" sldId="261"/>
            <ac:picMk id="145" creationId="{00000000-0000-0000-0000-000000000000}"/>
          </ac:picMkLst>
        </pc:picChg>
      </pc:sldChg>
      <pc:sldChg chg="delSp modSp mod">
        <pc:chgData name="mastertsai@outlook.com" userId="e9d72a7dd8d43541" providerId="LiveId" clId="{C006AC16-6F5C-424B-9670-C28FAB9B523E}" dt="2026-06-02T08:24:25.170" v="69" actId="1035"/>
        <pc:sldMkLst>
          <pc:docMk/>
          <pc:sldMk cId="0" sldId="262"/>
        </pc:sldMkLst>
        <pc:spChg chg="del">
          <ac:chgData name="mastertsai@outlook.com" userId="e9d72a7dd8d43541" providerId="LiveId" clId="{C006AC16-6F5C-424B-9670-C28FAB9B523E}" dt="2026-06-02T08:24:20.210" v="39" actId="478"/>
          <ac:spMkLst>
            <pc:docMk/>
            <pc:sldMk cId="0" sldId="262"/>
            <ac:spMk id="160" creationId="{00000000-0000-0000-0000-000000000000}"/>
          </ac:spMkLst>
        </pc:spChg>
        <pc:spChg chg="mod">
          <ac:chgData name="mastertsai@outlook.com" userId="e9d72a7dd8d43541" providerId="LiveId" clId="{C006AC16-6F5C-424B-9670-C28FAB9B523E}" dt="2026-06-02T08:24:25.170" v="69" actId="1035"/>
          <ac:spMkLst>
            <pc:docMk/>
            <pc:sldMk cId="0" sldId="262"/>
            <ac:spMk id="161" creationId="{00000000-0000-0000-0000-000000000000}"/>
          </ac:spMkLst>
        </pc:spChg>
        <pc:spChg chg="mod">
          <ac:chgData name="mastertsai@outlook.com" userId="e9d72a7dd8d43541" providerId="LiveId" clId="{C006AC16-6F5C-424B-9670-C28FAB9B523E}" dt="2026-06-02T08:24:25.170" v="69" actId="1035"/>
          <ac:spMkLst>
            <pc:docMk/>
            <pc:sldMk cId="0" sldId="262"/>
            <ac:spMk id="162" creationId="{00000000-0000-0000-0000-000000000000}"/>
          </ac:spMkLst>
        </pc:spChg>
      </pc:sldChg>
      <pc:sldChg chg="modSp mod">
        <pc:chgData name="mastertsai@outlook.com" userId="e9d72a7dd8d43541" providerId="LiveId" clId="{C006AC16-6F5C-424B-9670-C28FAB9B523E}" dt="2026-06-02T08:24:13.572" v="38" actId="1035"/>
        <pc:sldMkLst>
          <pc:docMk/>
          <pc:sldMk cId="0" sldId="263"/>
        </pc:sldMkLst>
        <pc:spChg chg="mod">
          <ac:chgData name="mastertsai@outlook.com" userId="e9d72a7dd8d43541" providerId="LiveId" clId="{C006AC16-6F5C-424B-9670-C28FAB9B523E}" dt="2026-06-02T08:24:13.572" v="38" actId="1035"/>
          <ac:spMkLst>
            <pc:docMk/>
            <pc:sldMk cId="0" sldId="263"/>
            <ac:spMk id="168" creationId="{00000000-0000-0000-0000-000000000000}"/>
          </ac:spMkLst>
        </pc:spChg>
        <pc:spChg chg="mod">
          <ac:chgData name="mastertsai@outlook.com" userId="e9d72a7dd8d43541" providerId="LiveId" clId="{C006AC16-6F5C-424B-9670-C28FAB9B523E}" dt="2026-06-02T08:24:13.572" v="38" actId="1035"/>
          <ac:spMkLst>
            <pc:docMk/>
            <pc:sldMk cId="0" sldId="263"/>
            <ac:spMk id="169" creationId="{00000000-0000-0000-0000-000000000000}"/>
          </ac:spMkLst>
        </pc:spChg>
        <pc:spChg chg="mod">
          <ac:chgData name="mastertsai@outlook.com" userId="e9d72a7dd8d43541" providerId="LiveId" clId="{C006AC16-6F5C-424B-9670-C28FAB9B523E}" dt="2026-06-02T08:24:13.572" v="38" actId="1035"/>
          <ac:spMkLst>
            <pc:docMk/>
            <pc:sldMk cId="0" sldId="263"/>
            <ac:spMk id="170" creationId="{00000000-0000-0000-0000-000000000000}"/>
          </ac:spMkLst>
        </pc:spChg>
        <pc:spChg chg="mod">
          <ac:chgData name="mastertsai@outlook.com" userId="e9d72a7dd8d43541" providerId="LiveId" clId="{C006AC16-6F5C-424B-9670-C28FAB9B523E}" dt="2026-06-02T08:24:13.572" v="38" actId="1035"/>
          <ac:spMkLst>
            <pc:docMk/>
            <pc:sldMk cId="0" sldId="263"/>
            <ac:spMk id="171" creationId="{00000000-0000-0000-0000-000000000000}"/>
          </ac:spMkLst>
        </pc:spChg>
        <pc:spChg chg="mod">
          <ac:chgData name="mastertsai@outlook.com" userId="e9d72a7dd8d43541" providerId="LiveId" clId="{C006AC16-6F5C-424B-9670-C28FAB9B523E}" dt="2026-06-02T08:24:13.572" v="38" actId="1035"/>
          <ac:spMkLst>
            <pc:docMk/>
            <pc:sldMk cId="0" sldId="263"/>
            <ac:spMk id="172" creationId="{00000000-0000-0000-0000-000000000000}"/>
          </ac:spMkLst>
        </pc:spChg>
        <pc:spChg chg="mod">
          <ac:chgData name="mastertsai@outlook.com" userId="e9d72a7dd8d43541" providerId="LiveId" clId="{C006AC16-6F5C-424B-9670-C28FAB9B523E}" dt="2026-06-02T08:24:13.572" v="38" actId="1035"/>
          <ac:spMkLst>
            <pc:docMk/>
            <pc:sldMk cId="0" sldId="263"/>
            <ac:spMk id="173" creationId="{00000000-0000-0000-0000-000000000000}"/>
          </ac:spMkLst>
        </pc:spChg>
      </pc:sldChg>
      <pc:sldChg chg="modSp mod">
        <pc:chgData name="mastertsai@outlook.com" userId="e9d72a7dd8d43541" providerId="LiveId" clId="{C006AC16-6F5C-424B-9670-C28FAB9B523E}" dt="2026-06-02T08:27:21.080" v="71" actId="207"/>
        <pc:sldMkLst>
          <pc:docMk/>
          <pc:sldMk cId="0" sldId="264"/>
        </pc:sldMkLst>
        <pc:graphicFrameChg chg="modGraphic">
          <ac:chgData name="mastertsai@outlook.com" userId="e9d72a7dd8d43541" providerId="LiveId" clId="{C006AC16-6F5C-424B-9670-C28FAB9B523E}" dt="2026-06-02T08:27:21.080" v="71" actId="207"/>
          <ac:graphicFrameMkLst>
            <pc:docMk/>
            <pc:sldMk cId="0" sldId="264"/>
            <ac:graphicFrameMk id="18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zh-TW" dirty="0"/>
              <a:t>HAJailBench 的建立是為了彌補現有自動化評判工具在面對複雜語義攻擊時的不足，並作為一個可靠的基準，證明</a:t>
            </a:r>
            <a:r>
              <a:rPr lang="zh-TW" altLang="zh-TW" b="1" dirty="0"/>
              <a:t>多智能體辯論框架</a:t>
            </a:r>
            <a:r>
              <a:rPr lang="zh-TW" altLang="zh-TW" dirty="0"/>
              <a:t>能以較低的成本達到接近人類或頂級模型（如 GPT-4o）的評判水準</a:t>
            </a:r>
            <a:endParaRPr dirty="0"/>
          </a:p>
        </p:txBody>
      </p:sp>
      <p:sp>
        <p:nvSpPr>
          <p:cNvPr id="165" name="Google Shape;1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4556819"/>
            <a:ext cx="11601450" cy="8572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625" b="0" i="0" u="none" strike="noStrike" cap="none">
                <a:solidFill>
                  <a:srgbClr val="F5F5F5"/>
                </a:solidFill>
                <a:latin typeface="Urbanist Medium"/>
                <a:ea typeface="Urbanist Medium"/>
                <a:cs typeface="Urbanist Medium"/>
                <a:sym typeface="Urbanist Medium"/>
              </a:rPr>
              <a:t>高效 </a:t>
            </a:r>
            <a:r>
              <a:rPr lang="en-US" sz="5625" b="0" i="0" u="none" strike="noStrike" cap="none">
                <a:solidFill>
                  <a:srgbClr val="DEFF9A"/>
                </a:solidFill>
                <a:latin typeface="Urbanist Medium"/>
                <a:ea typeface="Urbanist Medium"/>
                <a:cs typeface="Urbanist Medium"/>
                <a:sym typeface="Urbanist Medium"/>
              </a:rPr>
              <a:t>LLM</a:t>
            </a:r>
            <a:r>
              <a:rPr lang="en-US" sz="5625" b="0" i="0" u="none" strike="noStrike" cap="none">
                <a:solidFill>
                  <a:srgbClr val="F5F5F5"/>
                </a:solidFill>
                <a:latin typeface="Urbanist Medium"/>
                <a:ea typeface="Urbanist Medium"/>
                <a:cs typeface="Urbanist Medium"/>
                <a:sym typeface="Urbanist Medium"/>
              </a:rPr>
              <a:t> 安全評估</a:t>
            </a:r>
            <a:endParaRPr/>
          </a:p>
        </p:txBody>
      </p:sp>
      <p:sp>
        <p:nvSpPr>
          <p:cNvPr id="86" name="Google Shape;86;p13"/>
          <p:cNvSpPr txBox="1"/>
          <p:nvPr/>
        </p:nvSpPr>
        <p:spPr>
          <a:xfrm>
            <a:off x="1676400" y="5652194"/>
            <a:ext cx="883920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基於多代理人辯論框架 (Multi-Agent Debate) 突破成本與準確度的兩難</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2" name="Google Shape;92;p14"/>
          <p:cNvSpPr/>
          <p:nvPr/>
        </p:nvSpPr>
        <p:spPr>
          <a:xfrm>
            <a:off x="5619750" y="4051994"/>
            <a:ext cx="952500" cy="47625"/>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4"/>
          <p:cNvSpPr txBox="1"/>
          <p:nvPr/>
        </p:nvSpPr>
        <p:spPr>
          <a:xfrm>
            <a:off x="3820715" y="4385369"/>
            <a:ext cx="4550568"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75" b="0" i="0" u="none" strike="noStrike" cap="none">
                <a:solidFill>
                  <a:srgbClr val="F5F5F5"/>
                </a:solidFill>
                <a:latin typeface="Urbanist Medium"/>
                <a:ea typeface="Urbanist Medium"/>
                <a:cs typeface="Urbanist Medium"/>
                <a:sym typeface="Urbanist Medium"/>
              </a:rPr>
              <a:t>研究背景與</a:t>
            </a:r>
            <a:r>
              <a:rPr lang="en-US" sz="4875" b="0" i="0" u="none" strike="noStrike" cap="none">
                <a:solidFill>
                  <a:srgbClr val="DEFF9A"/>
                </a:solidFill>
                <a:latin typeface="Urbanist Medium"/>
                <a:ea typeface="Urbanist Medium"/>
                <a:cs typeface="Urbanist Medium"/>
                <a:sym typeface="Urbanist Medium"/>
              </a:rPr>
              <a:t>痛點</a:t>
            </a:r>
            <a:endParaRPr/>
          </a:p>
        </p:txBody>
      </p:sp>
      <p:sp>
        <p:nvSpPr>
          <p:cNvPr id="94" name="Google Shape;94;p14"/>
          <p:cNvSpPr txBox="1"/>
          <p:nvPr/>
        </p:nvSpPr>
        <p:spPr>
          <a:xfrm>
            <a:off x="4238625" y="5652194"/>
            <a:ext cx="371475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為什麼我們需要全新的評估機制？</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6381750" y="2412801"/>
            <a:ext cx="5238750" cy="3810000"/>
          </a:xfrm>
          <a:prstGeom prst="rect">
            <a:avLst/>
          </a:prstGeom>
          <a:noFill/>
          <a:ln>
            <a:noFill/>
          </a:ln>
        </p:spPr>
      </p:pic>
      <p:sp>
        <p:nvSpPr>
          <p:cNvPr id="101" name="Google Shape;101;p15"/>
          <p:cNvSpPr txBox="1"/>
          <p:nvPr/>
        </p:nvSpPr>
        <p:spPr>
          <a:xfrm>
            <a:off x="952500" y="2412801"/>
            <a:ext cx="4857750" cy="1005482"/>
          </a:xfrm>
          <a:prstGeom prst="rect">
            <a:avLst/>
          </a:prstGeom>
          <a:noFill/>
          <a:ln>
            <a:noFill/>
          </a:ln>
        </p:spPr>
        <p:txBody>
          <a:bodyPr spcFirstLastPara="1" wrap="square" lIns="266700" tIns="0" rIns="0" bIns="0" anchor="t" anchorCtr="0">
            <a:spAutoFit/>
          </a:bodyPr>
          <a:lstStyle/>
          <a:p>
            <a:pPr marL="0" marR="0" lvl="0" indent="0" algn="l" rtl="0">
              <a:lnSpc>
                <a:spcPct val="146666"/>
              </a:lnSpc>
              <a:spcBef>
                <a:spcPts val="0"/>
              </a:spcBef>
              <a:spcAft>
                <a:spcPts val="0"/>
              </a:spcAft>
              <a:buNone/>
            </a:pPr>
            <a:r>
              <a:rPr lang="en-US" sz="1650" b="1" i="0" u="none" strike="noStrike" cap="none">
                <a:solidFill>
                  <a:srgbClr val="CBD5E1"/>
                </a:solidFill>
                <a:latin typeface="Urbanist"/>
                <a:ea typeface="Urbanist"/>
                <a:cs typeface="Urbanist"/>
                <a:sym typeface="Urbanist"/>
              </a:rPr>
              <a:t>頂尖模型 (如 GPT-4o)：</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CBD5E1"/>
                </a:solidFill>
                <a:latin typeface="Urbanist"/>
                <a:ea typeface="Urbanist"/>
                <a:cs typeface="Urbanist"/>
                <a:sym typeface="Urbanist"/>
              </a:rPr>
              <a:t> 評估精準度極高，但做為常態性裁判時，API 呼叫成本過於昂貴，難以實現大規模檢測。</a:t>
            </a:r>
            <a:endParaRPr/>
          </a:p>
        </p:txBody>
      </p:sp>
      <p:sp>
        <p:nvSpPr>
          <p:cNvPr id="102" name="Google Shape;102;p15"/>
          <p:cNvSpPr txBox="1"/>
          <p:nvPr/>
        </p:nvSpPr>
        <p:spPr>
          <a:xfrm>
            <a:off x="952500" y="3704034"/>
            <a:ext cx="4857750" cy="1005482"/>
          </a:xfrm>
          <a:prstGeom prst="rect">
            <a:avLst/>
          </a:prstGeom>
          <a:noFill/>
          <a:ln>
            <a:noFill/>
          </a:ln>
        </p:spPr>
        <p:txBody>
          <a:bodyPr spcFirstLastPara="1" wrap="square" lIns="266700" tIns="0" rIns="0" bIns="0" anchor="t" anchorCtr="0">
            <a:spAutoFit/>
          </a:bodyPr>
          <a:lstStyle/>
          <a:p>
            <a:pPr marL="0" marR="0" lvl="0" indent="0" algn="l" rtl="0">
              <a:lnSpc>
                <a:spcPct val="146666"/>
              </a:lnSpc>
              <a:spcBef>
                <a:spcPts val="0"/>
              </a:spcBef>
              <a:spcAft>
                <a:spcPts val="0"/>
              </a:spcAft>
              <a:buNone/>
            </a:pPr>
            <a:r>
              <a:rPr lang="en-US" sz="1650" b="1" i="0" u="none" strike="noStrike" cap="none">
                <a:solidFill>
                  <a:srgbClr val="CBD5E1"/>
                </a:solidFill>
                <a:latin typeface="Urbanist"/>
                <a:ea typeface="Urbanist"/>
                <a:cs typeface="Urbanist"/>
                <a:sym typeface="Urbanist"/>
              </a:rPr>
              <a:t>小型模型與規則判斷：</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CBD5E1"/>
                </a:solidFill>
                <a:latin typeface="Urbanist"/>
                <a:ea typeface="Urbanist"/>
                <a:cs typeface="Urbanist"/>
                <a:sym typeface="Urbanist"/>
              </a:rPr>
              <a:t> 成本低廉且速度快，但在面對隱晦的語意偽裝或多回合攻擊時，往往容易遭到欺騙而產生誤判。</a:t>
            </a:r>
            <a:endParaRPr/>
          </a:p>
        </p:txBody>
      </p:sp>
      <p:sp>
        <p:nvSpPr>
          <p:cNvPr id="103" name="Google Shape;103;p15"/>
          <p:cNvSpPr txBox="1"/>
          <p:nvPr/>
        </p:nvSpPr>
        <p:spPr>
          <a:xfrm>
            <a:off x="952500" y="4995267"/>
            <a:ext cx="4857750" cy="1005482"/>
          </a:xfrm>
          <a:prstGeom prst="rect">
            <a:avLst/>
          </a:prstGeom>
          <a:noFill/>
          <a:ln>
            <a:noFill/>
          </a:ln>
        </p:spPr>
        <p:txBody>
          <a:bodyPr spcFirstLastPara="1" wrap="square" lIns="266700" tIns="0" rIns="0" bIns="0" anchor="t" anchorCtr="0">
            <a:spAutoFit/>
          </a:bodyPr>
          <a:lstStyle/>
          <a:p>
            <a:pPr marL="0" marR="0" lvl="0" indent="0" algn="l" rtl="0">
              <a:lnSpc>
                <a:spcPct val="146666"/>
              </a:lnSpc>
              <a:spcBef>
                <a:spcPts val="0"/>
              </a:spcBef>
              <a:spcAft>
                <a:spcPts val="0"/>
              </a:spcAft>
              <a:buNone/>
            </a:pPr>
            <a:r>
              <a:rPr lang="en-US" sz="1650" b="1" i="0" u="none" strike="noStrike" cap="none">
                <a:solidFill>
                  <a:srgbClr val="CBD5E1"/>
                </a:solidFill>
                <a:latin typeface="Urbanist"/>
                <a:ea typeface="Urbanist"/>
                <a:cs typeface="Urbanist"/>
                <a:sym typeface="Urbanist"/>
              </a:rPr>
              <a:t>核心挑戰：</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CBD5E1"/>
                </a:solidFill>
                <a:latin typeface="Urbanist"/>
                <a:ea typeface="Urbanist"/>
                <a:cs typeface="Urbanist"/>
                <a:sym typeface="Urbanist"/>
              </a:rPr>
              <a:t> 如何讓成本較低廉的小型模型，也能發揮出等同頂尖大語言模型的深度審查能力？</a:t>
            </a:r>
            <a:endParaRPr/>
          </a:p>
        </p:txBody>
      </p:sp>
      <p:pic>
        <p:nvPicPr>
          <p:cNvPr id="104" name="Google Shape;104;p15" descr="image.png"/>
          <p:cNvPicPr preferRelativeResize="0"/>
          <p:nvPr/>
        </p:nvPicPr>
        <p:blipFill rotWithShape="1">
          <a:blip r:embed="rId5">
            <a:alphaModFix/>
          </a:blip>
          <a:srcRect/>
          <a:stretch/>
        </p:blipFill>
        <p:spPr>
          <a:xfrm>
            <a:off x="6391275" y="2422326"/>
            <a:ext cx="5219700" cy="3790950"/>
          </a:xfrm>
          <a:prstGeom prst="rect">
            <a:avLst/>
          </a:prstGeom>
          <a:noFill/>
          <a:ln>
            <a:noFill/>
          </a:ln>
        </p:spPr>
      </p:pic>
      <p:sp>
        <p:nvSpPr>
          <p:cNvPr id="105" name="Google Shape;105;p15"/>
          <p:cNvSpPr txBox="1"/>
          <p:nvPr/>
        </p:nvSpPr>
        <p:spPr>
          <a:xfrm>
            <a:off x="571500" y="2269926"/>
            <a:ext cx="76200"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3375" b="0" i="0" u="none" strike="noStrike" cap="none">
                <a:solidFill>
                  <a:srgbClr val="DEFF9A"/>
                </a:solidFill>
                <a:latin typeface="Urbanist"/>
                <a:ea typeface="Urbanist"/>
                <a:cs typeface="Urbanist"/>
                <a:sym typeface="Urbanist"/>
              </a:rPr>
              <a:t>•</a:t>
            </a:r>
            <a:endParaRPr/>
          </a:p>
        </p:txBody>
      </p:sp>
      <p:sp>
        <p:nvSpPr>
          <p:cNvPr id="106" name="Google Shape;106;p15"/>
          <p:cNvSpPr txBox="1"/>
          <p:nvPr/>
        </p:nvSpPr>
        <p:spPr>
          <a:xfrm>
            <a:off x="571500" y="3561159"/>
            <a:ext cx="76200"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3375" b="0" i="0" u="none" strike="noStrike" cap="none">
                <a:solidFill>
                  <a:srgbClr val="DEFF9A"/>
                </a:solidFill>
                <a:latin typeface="Urbanist"/>
                <a:ea typeface="Urbanist"/>
                <a:cs typeface="Urbanist"/>
                <a:sym typeface="Urbanist"/>
              </a:rPr>
              <a:t>•</a:t>
            </a:r>
            <a:endParaRPr/>
          </a:p>
        </p:txBody>
      </p:sp>
      <p:sp>
        <p:nvSpPr>
          <p:cNvPr id="107" name="Google Shape;107;p15"/>
          <p:cNvSpPr txBox="1"/>
          <p:nvPr/>
        </p:nvSpPr>
        <p:spPr>
          <a:xfrm>
            <a:off x="571500" y="4852392"/>
            <a:ext cx="76200"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3375" b="0" i="0" u="none" strike="noStrike" cap="none">
                <a:solidFill>
                  <a:srgbClr val="DEFF9A"/>
                </a:solidFill>
                <a:latin typeface="Urbanist"/>
                <a:ea typeface="Urbanist"/>
                <a:cs typeface="Urbanist"/>
                <a:sym typeface="Urbanist"/>
              </a:rPr>
              <a:t>•</a:t>
            </a:r>
            <a:endParaRPr/>
          </a:p>
        </p:txBody>
      </p:sp>
      <p:sp>
        <p:nvSpPr>
          <p:cNvPr id="108" name="Google Shape;108;p15"/>
          <p:cNvSpPr/>
          <p:nvPr/>
        </p:nvSpPr>
        <p:spPr>
          <a:xfrm>
            <a:off x="4667250" y="-381000"/>
            <a:ext cx="4762500" cy="360759"/>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txBox="1"/>
          <p:nvPr/>
        </p:nvSpPr>
        <p:spPr>
          <a:xfrm>
            <a:off x="571500" y="1365051"/>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評估機制的</a:t>
            </a:r>
            <a:r>
              <a:rPr lang="en-US" sz="3900" b="0" i="0" u="none" strike="noStrike" cap="none">
                <a:solidFill>
                  <a:srgbClr val="DEFF9A"/>
                </a:solidFill>
                <a:latin typeface="Urbanist Medium"/>
                <a:ea typeface="Urbanist Medium"/>
                <a:cs typeface="Urbanist Medium"/>
                <a:sym typeface="Urbanist Medium"/>
              </a:rPr>
              <a:t>兩難</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3"/>
        <p:cNvGrpSpPr/>
        <p:nvPr/>
      </p:nvGrpSpPr>
      <p:grpSpPr>
        <a:xfrm>
          <a:off x="0" y="0"/>
          <a:ext cx="0" cy="0"/>
          <a:chOff x="0" y="0"/>
          <a:chExt cx="0" cy="0"/>
        </a:xfrm>
      </p:grpSpPr>
      <p:pic>
        <p:nvPicPr>
          <p:cNvPr id="114" name="Google Shape;11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5" name="Google Shape;115;p16"/>
          <p:cNvSpPr/>
          <p:nvPr/>
        </p:nvSpPr>
        <p:spPr>
          <a:xfrm>
            <a:off x="5619750" y="4051994"/>
            <a:ext cx="952500" cy="47625"/>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6"/>
          <p:cNvSpPr txBox="1"/>
          <p:nvPr/>
        </p:nvSpPr>
        <p:spPr>
          <a:xfrm>
            <a:off x="2520553" y="4385369"/>
            <a:ext cx="7150893"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75" b="0" i="0" u="none" strike="noStrike" cap="none">
                <a:solidFill>
                  <a:srgbClr val="F5F5F5"/>
                </a:solidFill>
                <a:latin typeface="Urbanist Medium"/>
                <a:ea typeface="Urbanist Medium"/>
                <a:cs typeface="Urbanist Medium"/>
                <a:sym typeface="Urbanist Medium"/>
              </a:rPr>
              <a:t>解決方案：</a:t>
            </a:r>
            <a:r>
              <a:rPr lang="en-US" sz="4875" b="0" i="0" u="none" strike="noStrike" cap="none">
                <a:solidFill>
                  <a:srgbClr val="DEFF9A"/>
                </a:solidFill>
                <a:latin typeface="Urbanist Medium"/>
                <a:ea typeface="Urbanist Medium"/>
                <a:cs typeface="Urbanist Medium"/>
                <a:sym typeface="Urbanist Medium"/>
              </a:rPr>
              <a:t>多代理人框架</a:t>
            </a:r>
            <a:endParaRPr/>
          </a:p>
        </p:txBody>
      </p:sp>
      <p:sp>
        <p:nvSpPr>
          <p:cNvPr id="117" name="Google Shape;117;p16"/>
          <p:cNvSpPr txBox="1"/>
          <p:nvPr/>
        </p:nvSpPr>
        <p:spPr>
          <a:xfrm>
            <a:off x="3867150" y="5652194"/>
            <a:ext cx="445770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運用「用魔法打敗魔法」的辯論對抗機制</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1"/>
        <p:cNvGrpSpPr/>
        <p:nvPr/>
      </p:nvGrpSpPr>
      <p:grpSpPr>
        <a:xfrm>
          <a:off x="0" y="0"/>
          <a:ext cx="0" cy="0"/>
          <a:chOff x="0" y="0"/>
          <a:chExt cx="0" cy="0"/>
        </a:xfrm>
      </p:grpSpPr>
      <p:pic>
        <p:nvPicPr>
          <p:cNvPr id="122" name="Google Shape;12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7" descr="image.png"/>
          <p:cNvPicPr preferRelativeResize="0"/>
          <p:nvPr/>
        </p:nvPicPr>
        <p:blipFill rotWithShape="1">
          <a:blip r:embed="rId4">
            <a:alphaModFix/>
          </a:blip>
          <a:srcRect/>
          <a:stretch/>
        </p:blipFill>
        <p:spPr>
          <a:xfrm>
            <a:off x="571500" y="2676525"/>
            <a:ext cx="3429000" cy="3609975"/>
          </a:xfrm>
          <a:prstGeom prst="rect">
            <a:avLst/>
          </a:prstGeom>
          <a:noFill/>
          <a:ln>
            <a:noFill/>
          </a:ln>
        </p:spPr>
      </p:pic>
      <p:pic>
        <p:nvPicPr>
          <p:cNvPr id="124" name="Google Shape;124;p17" descr="image.png"/>
          <p:cNvPicPr preferRelativeResize="0"/>
          <p:nvPr/>
        </p:nvPicPr>
        <p:blipFill rotWithShape="1">
          <a:blip r:embed="rId5">
            <a:alphaModFix/>
          </a:blip>
          <a:srcRect/>
          <a:stretch/>
        </p:blipFill>
        <p:spPr>
          <a:xfrm>
            <a:off x="4381500" y="2676525"/>
            <a:ext cx="3429000" cy="3609975"/>
          </a:xfrm>
          <a:prstGeom prst="rect">
            <a:avLst/>
          </a:prstGeom>
          <a:noFill/>
          <a:ln>
            <a:noFill/>
          </a:ln>
        </p:spPr>
      </p:pic>
      <p:pic>
        <p:nvPicPr>
          <p:cNvPr id="125" name="Google Shape;125;p17" descr="image.png"/>
          <p:cNvPicPr preferRelativeResize="0"/>
          <p:nvPr/>
        </p:nvPicPr>
        <p:blipFill rotWithShape="1">
          <a:blip r:embed="rId6">
            <a:alphaModFix/>
          </a:blip>
          <a:srcRect/>
          <a:stretch/>
        </p:blipFill>
        <p:spPr>
          <a:xfrm>
            <a:off x="8191500" y="2676525"/>
            <a:ext cx="3429000" cy="3609975"/>
          </a:xfrm>
          <a:prstGeom prst="rect">
            <a:avLst/>
          </a:prstGeom>
          <a:noFill/>
          <a:ln>
            <a:noFill/>
          </a:ln>
        </p:spPr>
      </p:pic>
      <p:pic>
        <p:nvPicPr>
          <p:cNvPr id="126" name="Google Shape;126;p17" descr="image.png"/>
          <p:cNvPicPr preferRelativeResize="0"/>
          <p:nvPr/>
        </p:nvPicPr>
        <p:blipFill rotWithShape="1">
          <a:blip r:embed="rId7">
            <a:alphaModFix/>
          </a:blip>
          <a:srcRect/>
          <a:stretch/>
        </p:blipFill>
        <p:spPr>
          <a:xfrm>
            <a:off x="1905000" y="3067050"/>
            <a:ext cx="762000" cy="762000"/>
          </a:xfrm>
          <a:prstGeom prst="rect">
            <a:avLst/>
          </a:prstGeom>
          <a:noFill/>
          <a:ln>
            <a:noFill/>
          </a:ln>
        </p:spPr>
      </p:pic>
      <p:sp>
        <p:nvSpPr>
          <p:cNvPr id="127" name="Google Shape;127;p17"/>
          <p:cNvSpPr txBox="1"/>
          <p:nvPr/>
        </p:nvSpPr>
        <p:spPr>
          <a:xfrm>
            <a:off x="1275873" y="4114800"/>
            <a:ext cx="2020252" cy="419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5F5F5"/>
                </a:solidFill>
                <a:latin typeface="Urbanist Medium"/>
                <a:ea typeface="Urbanist Medium"/>
                <a:cs typeface="Urbanist Medium"/>
                <a:sym typeface="Urbanist Medium"/>
              </a:rPr>
              <a:t>批評者 (Critic)</a:t>
            </a:r>
            <a:endParaRPr/>
          </a:p>
        </p:txBody>
      </p:sp>
      <p:sp>
        <p:nvSpPr>
          <p:cNvPr id="128" name="Google Shape;128;p17"/>
          <p:cNvSpPr txBox="1"/>
          <p:nvPr/>
        </p:nvSpPr>
        <p:spPr>
          <a:xfrm>
            <a:off x="866775" y="4676775"/>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如同檢察官。其任務是根據設定好的安全基準，仔細尋找並挑出模型回應中的潛在有害內容或違規漏洞。</a:t>
            </a:r>
            <a:endParaRPr/>
          </a:p>
        </p:txBody>
      </p:sp>
      <p:pic>
        <p:nvPicPr>
          <p:cNvPr id="129" name="Google Shape;129;p17" descr="image.png"/>
          <p:cNvPicPr preferRelativeResize="0"/>
          <p:nvPr/>
        </p:nvPicPr>
        <p:blipFill rotWithShape="1">
          <a:blip r:embed="rId8">
            <a:alphaModFix/>
          </a:blip>
          <a:srcRect/>
          <a:stretch/>
        </p:blipFill>
        <p:spPr>
          <a:xfrm>
            <a:off x="5715000" y="3067050"/>
            <a:ext cx="762000" cy="762000"/>
          </a:xfrm>
          <a:prstGeom prst="rect">
            <a:avLst/>
          </a:prstGeom>
          <a:noFill/>
          <a:ln>
            <a:noFill/>
          </a:ln>
        </p:spPr>
      </p:pic>
      <p:sp>
        <p:nvSpPr>
          <p:cNvPr id="130" name="Google Shape;130;p17"/>
          <p:cNvSpPr txBox="1"/>
          <p:nvPr/>
        </p:nvSpPr>
        <p:spPr>
          <a:xfrm>
            <a:off x="4795837" y="4114800"/>
            <a:ext cx="2600325" cy="419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5F5F5"/>
                </a:solidFill>
                <a:latin typeface="Urbanist Medium"/>
                <a:ea typeface="Urbanist Medium"/>
                <a:cs typeface="Urbanist Medium"/>
                <a:sym typeface="Urbanist Medium"/>
              </a:rPr>
              <a:t>辯護者 (Defender)</a:t>
            </a:r>
            <a:endParaRPr/>
          </a:p>
        </p:txBody>
      </p:sp>
      <p:sp>
        <p:nvSpPr>
          <p:cNvPr id="131" name="Google Shape;131;p17"/>
          <p:cNvSpPr txBox="1"/>
          <p:nvPr/>
        </p:nvSpPr>
        <p:spPr>
          <a:xfrm>
            <a:off x="4676775" y="4676775"/>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如同律師。針對批評者的指控提出反駁，提供其他的上下文解釋或反證，避免模型因為過度敏感而產生誤判。</a:t>
            </a:r>
            <a:endParaRPr/>
          </a:p>
        </p:txBody>
      </p:sp>
      <p:pic>
        <p:nvPicPr>
          <p:cNvPr id="132" name="Google Shape;132;p17" descr="image.png"/>
          <p:cNvPicPr preferRelativeResize="0"/>
          <p:nvPr/>
        </p:nvPicPr>
        <p:blipFill rotWithShape="1">
          <a:blip r:embed="rId9">
            <a:alphaModFix/>
          </a:blip>
          <a:srcRect/>
          <a:stretch/>
        </p:blipFill>
        <p:spPr>
          <a:xfrm>
            <a:off x="9525000" y="3067050"/>
            <a:ext cx="762000" cy="762000"/>
          </a:xfrm>
          <a:prstGeom prst="rect">
            <a:avLst/>
          </a:prstGeom>
          <a:noFill/>
          <a:ln>
            <a:noFill/>
          </a:ln>
        </p:spPr>
      </p:pic>
      <p:sp>
        <p:nvSpPr>
          <p:cNvPr id="133" name="Google Shape;133;p17"/>
          <p:cNvSpPr txBox="1"/>
          <p:nvPr/>
        </p:nvSpPr>
        <p:spPr>
          <a:xfrm>
            <a:off x="9005887" y="4114800"/>
            <a:ext cx="1800225" cy="419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5F5F5"/>
                </a:solidFill>
                <a:latin typeface="Urbanist Medium"/>
                <a:ea typeface="Urbanist Medium"/>
                <a:cs typeface="Urbanist Medium"/>
                <a:sym typeface="Urbanist Medium"/>
              </a:rPr>
              <a:t>裁判 (Judge)</a:t>
            </a:r>
            <a:endParaRPr/>
          </a:p>
        </p:txBody>
      </p:sp>
      <p:sp>
        <p:nvSpPr>
          <p:cNvPr id="134" name="Google Shape;134;p17"/>
          <p:cNvSpPr txBox="1"/>
          <p:nvPr/>
        </p:nvSpPr>
        <p:spPr>
          <a:xfrm>
            <a:off x="8486775" y="4676775"/>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如同法官。全面審視雙方歷經多回合的辯論紀錄與論點，並給出最終的 10 分制風險評分與實質決策。</a:t>
            </a:r>
            <a:endParaRPr/>
          </a:p>
        </p:txBody>
      </p:sp>
      <p:pic>
        <p:nvPicPr>
          <p:cNvPr id="135" name="Google Shape;135;p17" descr="image.png"/>
          <p:cNvPicPr preferRelativeResize="0"/>
          <p:nvPr/>
        </p:nvPicPr>
        <p:blipFill rotWithShape="1">
          <a:blip r:embed="rId10">
            <a:alphaModFix/>
          </a:blip>
          <a:srcRect/>
          <a:stretch/>
        </p:blipFill>
        <p:spPr>
          <a:xfrm>
            <a:off x="2133600" y="3276600"/>
            <a:ext cx="304800" cy="342900"/>
          </a:xfrm>
          <a:prstGeom prst="rect">
            <a:avLst/>
          </a:prstGeom>
          <a:noFill/>
          <a:ln>
            <a:noFill/>
          </a:ln>
        </p:spPr>
      </p:pic>
      <p:pic>
        <p:nvPicPr>
          <p:cNvPr id="136" name="Google Shape;136;p17" descr="image.png"/>
          <p:cNvPicPr preferRelativeResize="0"/>
          <p:nvPr/>
        </p:nvPicPr>
        <p:blipFill rotWithShape="1">
          <a:blip r:embed="rId11">
            <a:alphaModFix/>
          </a:blip>
          <a:srcRect/>
          <a:stretch/>
        </p:blipFill>
        <p:spPr>
          <a:xfrm>
            <a:off x="5924550" y="3276600"/>
            <a:ext cx="342900" cy="342900"/>
          </a:xfrm>
          <a:prstGeom prst="rect">
            <a:avLst/>
          </a:prstGeom>
          <a:noFill/>
          <a:ln>
            <a:noFill/>
          </a:ln>
        </p:spPr>
      </p:pic>
      <p:pic>
        <p:nvPicPr>
          <p:cNvPr id="137" name="Google Shape;137;p17" descr="image.png"/>
          <p:cNvPicPr preferRelativeResize="0"/>
          <p:nvPr/>
        </p:nvPicPr>
        <p:blipFill rotWithShape="1">
          <a:blip r:embed="rId12">
            <a:alphaModFix/>
          </a:blip>
          <a:srcRect/>
          <a:stretch/>
        </p:blipFill>
        <p:spPr>
          <a:xfrm>
            <a:off x="9734550" y="3276600"/>
            <a:ext cx="342900" cy="342900"/>
          </a:xfrm>
          <a:prstGeom prst="rect">
            <a:avLst/>
          </a:prstGeom>
          <a:noFill/>
          <a:ln>
            <a:noFill/>
          </a:ln>
        </p:spPr>
      </p:pic>
      <p:sp>
        <p:nvSpPr>
          <p:cNvPr id="140" name="Google Shape;140;p17"/>
          <p:cNvSpPr txBox="1"/>
          <p:nvPr/>
        </p:nvSpPr>
        <p:spPr>
          <a:xfrm>
            <a:off x="571500" y="1628775"/>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核心解法：多代理人</a:t>
            </a:r>
            <a:r>
              <a:rPr lang="en-US" sz="3900" b="0" i="0" u="none" strike="noStrike" cap="none">
                <a:solidFill>
                  <a:srgbClr val="DEFF9A"/>
                </a:solidFill>
                <a:latin typeface="Urbanist Medium"/>
                <a:ea typeface="Urbanist Medium"/>
                <a:cs typeface="Urbanist Medium"/>
                <a:sym typeface="Urbanist Medium"/>
              </a:rPr>
              <a:t>法庭機制</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4"/>
        <p:cNvGrpSpPr/>
        <p:nvPr/>
      </p:nvGrpSpPr>
      <p:grpSpPr>
        <a:xfrm>
          <a:off x="0" y="0"/>
          <a:ext cx="0" cy="0"/>
          <a:chOff x="0" y="0"/>
          <a:chExt cx="0" cy="0"/>
        </a:xfrm>
      </p:grpSpPr>
      <p:pic>
        <p:nvPicPr>
          <p:cNvPr id="145" name="Google Shape;14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6" name="Google Shape;146;p18"/>
          <p:cNvSpPr txBox="1"/>
          <p:nvPr/>
        </p:nvSpPr>
        <p:spPr>
          <a:xfrm>
            <a:off x="1428750" y="1858267"/>
            <a:ext cx="9906000" cy="114270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F5F5F5"/>
                </a:solidFill>
                <a:latin typeface="Urbanist Medium"/>
                <a:ea typeface="Urbanist Medium"/>
                <a:cs typeface="Urbanist Medium"/>
                <a:sym typeface="Urbanist Medium"/>
              </a:rPr>
              <a:t>任務對齊</a:t>
            </a:r>
            <a:r>
              <a:rPr lang="en-US" sz="1650" b="0" i="0" u="none" strike="noStrike" cap="none" dirty="0">
                <a:solidFill>
                  <a:srgbClr val="F5F5F5"/>
                </a:solidFill>
                <a:latin typeface="Urbanist Medium"/>
                <a:ea typeface="Urbanist Medium"/>
                <a:cs typeface="Urbanist Medium"/>
                <a:sym typeface="Urbanist Medium"/>
              </a:rPr>
              <a:t> (Topic Alignment)</a:t>
            </a:r>
            <a:r>
              <a:rPr lang="en-US" sz="1650" b="0" i="0" u="none" strike="noStrike" cap="none" dirty="0">
                <a:solidFill>
                  <a:srgbClr val="CBD5E1"/>
                </a:solidFill>
                <a:latin typeface="Urbanist"/>
                <a:ea typeface="Urbanist"/>
                <a:cs typeface="Urbanist"/>
                <a:sym typeface="Urbanist"/>
              </a:rPr>
              <a:t> </a:t>
            </a:r>
            <a:r>
              <a:rPr lang="en-US" sz="1650" b="0" i="0" u="none" strike="noStrike" cap="none" dirty="0" err="1">
                <a:solidFill>
                  <a:srgbClr val="CBD5E1"/>
                </a:solidFill>
                <a:latin typeface="Urbanist"/>
                <a:ea typeface="Urbanist"/>
                <a:cs typeface="Urbanist"/>
                <a:sym typeface="Urbanist"/>
              </a:rPr>
              <a:t>系統會先挑選出最相關的</a:t>
            </a:r>
            <a:r>
              <a:rPr lang="en-US" sz="1650" b="0" i="0" u="none" strike="noStrike" cap="none" dirty="0">
                <a:solidFill>
                  <a:srgbClr val="CBD5E1"/>
                </a:solidFill>
                <a:latin typeface="Urbanist"/>
                <a:ea typeface="Urbanist"/>
                <a:cs typeface="Urbanist"/>
                <a:sym typeface="Urbanist"/>
              </a:rPr>
              <a:t> 5 </a:t>
            </a:r>
            <a:r>
              <a:rPr lang="en-US" sz="1650" b="0" i="0" u="none" strike="noStrike" cap="none" dirty="0" err="1">
                <a:solidFill>
                  <a:srgbClr val="CBD5E1"/>
                </a:solidFill>
                <a:latin typeface="Urbanist"/>
                <a:ea typeface="Urbanist"/>
                <a:cs typeface="Urbanist"/>
                <a:sym typeface="Urbanist"/>
              </a:rPr>
              <a:t>個核心安全基準（如隱私外洩、危險行為等</a:t>
            </a:r>
            <a:r>
              <a:rPr lang="en-US" sz="1650" b="0" i="0" u="none" strike="noStrike" cap="none" dirty="0">
                <a:solidFill>
                  <a:srgbClr val="CBD5E1"/>
                </a:solidFill>
                <a:latin typeface="Urbanist"/>
                <a:ea typeface="Urbanist"/>
                <a:cs typeface="Urbanist"/>
                <a:sym typeface="Urbanist"/>
              </a:rPr>
              <a:t>），</a:t>
            </a:r>
            <a:r>
              <a:rPr lang="en-US" sz="1650" b="0" i="0" u="none" strike="noStrike" cap="none" dirty="0" err="1">
                <a:solidFill>
                  <a:srgbClr val="CBD5E1"/>
                </a:solidFill>
                <a:latin typeface="Urbanist"/>
                <a:ea typeface="Urbanist"/>
                <a:cs typeface="Urbanist"/>
                <a:sym typeface="Urbanist"/>
              </a:rPr>
              <a:t>強制要求後續辯論緊扣主題，避免小型模型在長篇大論中失焦</a:t>
            </a:r>
            <a:r>
              <a:rPr lang="en-US" sz="1650" b="0" i="0" u="none" strike="noStrike" cap="none" dirty="0">
                <a:solidFill>
                  <a:srgbClr val="CBD5E1"/>
                </a:solidFill>
                <a:latin typeface="Urbanist"/>
                <a:ea typeface="Urbanist"/>
                <a:cs typeface="Urbanist"/>
                <a:sym typeface="Urbanist"/>
              </a:rPr>
              <a:t>。</a:t>
            </a:r>
            <a:endParaRPr dirty="0"/>
          </a:p>
        </p:txBody>
      </p:sp>
      <p:sp>
        <p:nvSpPr>
          <p:cNvPr id="147" name="Google Shape;147;p18"/>
          <p:cNvSpPr txBox="1"/>
          <p:nvPr/>
        </p:nvSpPr>
        <p:spPr>
          <a:xfrm>
            <a:off x="1428750" y="3334345"/>
            <a:ext cx="9906000" cy="114270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F5F5F5"/>
                </a:solidFill>
                <a:latin typeface="Urbanist Medium"/>
                <a:ea typeface="Urbanist Medium"/>
                <a:cs typeface="Urbanist Medium"/>
                <a:sym typeface="Urbanist Medium"/>
              </a:rPr>
              <a:t>回應去雜訊</a:t>
            </a:r>
            <a:r>
              <a:rPr lang="en-US" sz="1650" b="0" i="0" u="none" strike="noStrike" cap="none" dirty="0">
                <a:solidFill>
                  <a:srgbClr val="F5F5F5"/>
                </a:solidFill>
                <a:latin typeface="Urbanist Medium"/>
                <a:ea typeface="Urbanist Medium"/>
                <a:cs typeface="Urbanist Medium"/>
                <a:sym typeface="Urbanist Medium"/>
              </a:rPr>
              <a:t> (Response Denoising)</a:t>
            </a:r>
            <a:r>
              <a:rPr lang="en-US" sz="1650" b="0" i="0" u="none" strike="noStrike" cap="none" dirty="0">
                <a:solidFill>
                  <a:srgbClr val="CBD5E1"/>
                </a:solidFill>
                <a:latin typeface="Urbanist"/>
                <a:ea typeface="Urbanist"/>
                <a:cs typeface="Urbanist"/>
                <a:sym typeface="Urbanist"/>
              </a:rPr>
              <a:t> </a:t>
            </a:r>
            <a:r>
              <a:rPr lang="en-US" sz="1650" b="0" i="0" u="none" strike="noStrike" cap="none" dirty="0" err="1">
                <a:solidFill>
                  <a:srgbClr val="CBD5E1"/>
                </a:solidFill>
                <a:latin typeface="Urbanist"/>
                <a:ea typeface="Urbanist"/>
                <a:cs typeface="Urbanist"/>
                <a:sym typeface="Urbanist"/>
              </a:rPr>
              <a:t>利用演算法清除模型回應中用來混淆視聽的無意義字串與排版格式，剝除攻擊者的偽裝，讓代理人能專注於「實質內容」的評估</a:t>
            </a:r>
            <a:r>
              <a:rPr lang="en-US" sz="1650" b="0" i="0" u="none" strike="noStrike" cap="none" dirty="0">
                <a:solidFill>
                  <a:srgbClr val="CBD5E1"/>
                </a:solidFill>
                <a:latin typeface="Urbanist"/>
                <a:ea typeface="Urbanist"/>
                <a:cs typeface="Urbanist"/>
                <a:sym typeface="Urbanist"/>
              </a:rPr>
              <a:t>。</a:t>
            </a:r>
            <a:endParaRPr dirty="0"/>
          </a:p>
        </p:txBody>
      </p:sp>
      <p:sp>
        <p:nvSpPr>
          <p:cNvPr id="148" name="Google Shape;148;p18"/>
          <p:cNvSpPr txBox="1"/>
          <p:nvPr/>
        </p:nvSpPr>
        <p:spPr>
          <a:xfrm>
            <a:off x="1428750" y="4810422"/>
            <a:ext cx="9906000" cy="114270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F5F5F5"/>
                </a:solidFill>
                <a:latin typeface="Urbanist Medium"/>
                <a:ea typeface="Urbanist Medium"/>
                <a:cs typeface="Urbanist Medium"/>
                <a:sym typeface="Urbanist Medium"/>
              </a:rPr>
              <a:t>過濾拒絕</a:t>
            </a:r>
            <a:r>
              <a:rPr lang="en-US" sz="1650" b="0" i="0" u="none" strike="noStrike" cap="none" dirty="0">
                <a:solidFill>
                  <a:srgbClr val="F5F5F5"/>
                </a:solidFill>
                <a:latin typeface="Urbanist Medium"/>
                <a:ea typeface="Urbanist Medium"/>
                <a:cs typeface="Urbanist Medium"/>
                <a:sym typeface="Urbanist Medium"/>
              </a:rPr>
              <a:t> (Refusal Screening)</a:t>
            </a:r>
            <a:r>
              <a:rPr lang="en-US" sz="1650" b="0" i="0" u="none" strike="noStrike" cap="none" dirty="0">
                <a:solidFill>
                  <a:srgbClr val="CBD5E1"/>
                </a:solidFill>
                <a:latin typeface="Urbanist"/>
                <a:ea typeface="Urbanist"/>
                <a:cs typeface="Urbanist"/>
                <a:sym typeface="Urbanist"/>
              </a:rPr>
              <a:t> </a:t>
            </a:r>
            <a:r>
              <a:rPr lang="en-US" sz="1650" b="0" i="0" u="none" strike="noStrike" cap="none" dirty="0" err="1">
                <a:solidFill>
                  <a:srgbClr val="CBD5E1"/>
                </a:solidFill>
                <a:latin typeface="Urbanist"/>
                <a:ea typeface="Urbanist"/>
                <a:cs typeface="Urbanist"/>
                <a:sym typeface="Urbanist"/>
              </a:rPr>
              <a:t>在進入複雜的辯論前，系統會先攔截那些「明顯且直接拒絕回答」的安全回應，大幅節省不必要的運算與</a:t>
            </a:r>
            <a:r>
              <a:rPr lang="en-US" sz="1650" b="0" i="0" u="none" strike="noStrike" cap="none" dirty="0">
                <a:solidFill>
                  <a:srgbClr val="CBD5E1"/>
                </a:solidFill>
                <a:latin typeface="Urbanist"/>
                <a:ea typeface="Urbanist"/>
                <a:cs typeface="Urbanist"/>
                <a:sym typeface="Urbanist"/>
              </a:rPr>
              <a:t> API </a:t>
            </a:r>
            <a:r>
              <a:rPr lang="en-US" sz="1650" b="0" i="0" u="none" strike="noStrike" cap="none" dirty="0" err="1">
                <a:solidFill>
                  <a:srgbClr val="CBD5E1"/>
                </a:solidFill>
                <a:latin typeface="Urbanist"/>
                <a:ea typeface="Urbanist"/>
                <a:cs typeface="Urbanist"/>
                <a:sym typeface="Urbanist"/>
              </a:rPr>
              <a:t>成本</a:t>
            </a:r>
            <a:r>
              <a:rPr lang="en-US" sz="1650" b="0" i="0" u="none" strike="noStrike" cap="none" dirty="0">
                <a:solidFill>
                  <a:srgbClr val="CBD5E1"/>
                </a:solidFill>
                <a:latin typeface="Urbanist"/>
                <a:ea typeface="Urbanist"/>
                <a:cs typeface="Urbanist"/>
                <a:sym typeface="Urbanist"/>
              </a:rPr>
              <a:t>。</a:t>
            </a:r>
            <a:endParaRPr dirty="0"/>
          </a:p>
        </p:txBody>
      </p:sp>
      <p:pic>
        <p:nvPicPr>
          <p:cNvPr id="149" name="Google Shape;149;p18" descr="image.png"/>
          <p:cNvPicPr preferRelativeResize="0"/>
          <p:nvPr/>
        </p:nvPicPr>
        <p:blipFill rotWithShape="1">
          <a:blip r:embed="rId4">
            <a:alphaModFix/>
          </a:blip>
          <a:srcRect/>
          <a:stretch/>
        </p:blipFill>
        <p:spPr>
          <a:xfrm>
            <a:off x="857250" y="1867792"/>
            <a:ext cx="304800" cy="323850"/>
          </a:xfrm>
          <a:prstGeom prst="rect">
            <a:avLst/>
          </a:prstGeom>
          <a:noFill/>
          <a:ln>
            <a:noFill/>
          </a:ln>
        </p:spPr>
      </p:pic>
      <p:pic>
        <p:nvPicPr>
          <p:cNvPr id="150" name="Google Shape;150;p18" descr="image.png"/>
          <p:cNvPicPr preferRelativeResize="0"/>
          <p:nvPr/>
        </p:nvPicPr>
        <p:blipFill rotWithShape="1">
          <a:blip r:embed="rId5">
            <a:alphaModFix/>
          </a:blip>
          <a:srcRect/>
          <a:stretch/>
        </p:blipFill>
        <p:spPr>
          <a:xfrm>
            <a:off x="857250" y="3343870"/>
            <a:ext cx="342900" cy="323850"/>
          </a:xfrm>
          <a:prstGeom prst="rect">
            <a:avLst/>
          </a:prstGeom>
          <a:noFill/>
          <a:ln>
            <a:noFill/>
          </a:ln>
        </p:spPr>
      </p:pic>
      <p:pic>
        <p:nvPicPr>
          <p:cNvPr id="151" name="Google Shape;151;p18" descr="image.png"/>
          <p:cNvPicPr preferRelativeResize="0"/>
          <p:nvPr/>
        </p:nvPicPr>
        <p:blipFill rotWithShape="1">
          <a:blip r:embed="rId6">
            <a:alphaModFix/>
          </a:blip>
          <a:srcRect/>
          <a:stretch/>
        </p:blipFill>
        <p:spPr>
          <a:xfrm>
            <a:off x="857250" y="4819947"/>
            <a:ext cx="304800" cy="323850"/>
          </a:xfrm>
          <a:prstGeom prst="rect">
            <a:avLst/>
          </a:prstGeom>
          <a:noFill/>
          <a:ln>
            <a:noFill/>
          </a:ln>
        </p:spPr>
      </p:pic>
      <p:sp>
        <p:nvSpPr>
          <p:cNvPr id="152" name="Google Shape;152;p18"/>
          <p:cNvSpPr/>
          <p:nvPr/>
        </p:nvSpPr>
        <p:spPr>
          <a:xfrm>
            <a:off x="4667250" y="-381000"/>
            <a:ext cx="4762500" cy="108644"/>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8"/>
          <p:cNvSpPr txBox="1"/>
          <p:nvPr/>
        </p:nvSpPr>
        <p:spPr>
          <a:xfrm>
            <a:off x="571500" y="810517"/>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前置作業：</a:t>
            </a:r>
            <a:r>
              <a:rPr lang="en-US" sz="3900" b="0" i="0" u="none" strike="noStrike" cap="none">
                <a:solidFill>
                  <a:srgbClr val="DEFF9A"/>
                </a:solidFill>
                <a:latin typeface="Urbanist Medium"/>
                <a:ea typeface="Urbanist Medium"/>
                <a:cs typeface="Urbanist Medium"/>
                <a:sym typeface="Urbanist Medium"/>
              </a:rPr>
              <a:t>對齊與去雜訊</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8"/>
        <p:cNvGrpSpPr/>
        <p:nvPr/>
      </p:nvGrpSpPr>
      <p:grpSpPr>
        <a:xfrm>
          <a:off x="0" y="0"/>
          <a:ext cx="0" cy="0"/>
          <a:chOff x="0" y="0"/>
          <a:chExt cx="0" cy="0"/>
        </a:xfrm>
      </p:grpSpPr>
      <p:pic>
        <p:nvPicPr>
          <p:cNvPr id="159" name="Google Shape;15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1" name="Google Shape;161;p19"/>
          <p:cNvSpPr txBox="1"/>
          <p:nvPr/>
        </p:nvSpPr>
        <p:spPr>
          <a:xfrm>
            <a:off x="3495675" y="2374727"/>
            <a:ext cx="5200650" cy="1581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75" b="0" i="0" u="none" strike="noStrike" cap="none">
                <a:solidFill>
                  <a:srgbClr val="DEFF9A"/>
                </a:solidFill>
                <a:latin typeface="Urbanist Medium"/>
                <a:ea typeface="Urbanist Medium"/>
                <a:cs typeface="Urbanist Medium"/>
                <a:sym typeface="Urbanist Medium"/>
              </a:rPr>
              <a:t>HAJailBench</a:t>
            </a:r>
            <a:br>
              <a:rPr lang="en-US" sz="1800" b="0" i="0" u="none" strike="noStrike" cap="none">
                <a:solidFill>
                  <a:schemeClr val="dk1"/>
                </a:solidFill>
                <a:latin typeface="Calibri"/>
                <a:ea typeface="Calibri"/>
                <a:cs typeface="Calibri"/>
                <a:sym typeface="Calibri"/>
              </a:rPr>
            </a:br>
            <a:r>
              <a:rPr lang="en-US" sz="4875" b="0" i="0" u="none" strike="noStrike" cap="none">
                <a:solidFill>
                  <a:srgbClr val="F5F5F5"/>
                </a:solidFill>
                <a:latin typeface="Urbanist Medium"/>
                <a:ea typeface="Urbanist Medium"/>
                <a:cs typeface="Urbanist Medium"/>
                <a:sym typeface="Urbanist Medium"/>
              </a:rPr>
              <a:t> 資料集與實驗數據</a:t>
            </a:r>
            <a:endParaRPr/>
          </a:p>
        </p:txBody>
      </p:sp>
      <p:sp>
        <p:nvSpPr>
          <p:cNvPr id="162" name="Google Shape;162;p19"/>
          <p:cNvSpPr txBox="1"/>
          <p:nvPr/>
        </p:nvSpPr>
        <p:spPr>
          <a:xfrm>
            <a:off x="4114800" y="4384502"/>
            <a:ext cx="396240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為驗證成效所建立的高品質基準測試</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6"/>
        <p:cNvGrpSpPr/>
        <p:nvPr/>
      </p:nvGrpSpPr>
      <p:grpSpPr>
        <a:xfrm>
          <a:off x="0" y="0"/>
          <a:ext cx="0" cy="0"/>
          <a:chOff x="0" y="0"/>
          <a:chExt cx="0" cy="0"/>
        </a:xfrm>
      </p:grpSpPr>
      <p:pic>
        <p:nvPicPr>
          <p:cNvPr id="167" name="Google Shape;16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8" name="Google Shape;168;p20"/>
          <p:cNvSpPr txBox="1"/>
          <p:nvPr/>
        </p:nvSpPr>
        <p:spPr>
          <a:xfrm>
            <a:off x="457200" y="2770746"/>
            <a:ext cx="4352925" cy="161582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dirty="0">
                <a:solidFill>
                  <a:srgbClr val="DEFF9A"/>
                </a:solidFill>
                <a:latin typeface="Urbanist"/>
                <a:ea typeface="Urbanist"/>
                <a:cs typeface="Urbanist"/>
                <a:sym typeface="Urbanist"/>
              </a:rPr>
              <a:t>11,100</a:t>
            </a:r>
            <a:endParaRPr dirty="0"/>
          </a:p>
        </p:txBody>
      </p:sp>
      <p:sp>
        <p:nvSpPr>
          <p:cNvPr id="169" name="Google Shape;169;p20"/>
          <p:cNvSpPr txBox="1"/>
          <p:nvPr/>
        </p:nvSpPr>
        <p:spPr>
          <a:xfrm>
            <a:off x="2190750" y="4199496"/>
            <a:ext cx="2000250" cy="3905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250" b="0" i="0" u="none" strike="noStrike" cap="none">
                <a:solidFill>
                  <a:srgbClr val="F5F5F5"/>
                </a:solidFill>
                <a:latin typeface="Urbanist Medium"/>
                <a:ea typeface="Urbanist Medium"/>
                <a:cs typeface="Urbanist Medium"/>
                <a:sym typeface="Urbanist Medium"/>
              </a:rPr>
              <a:t>筆人工標註資料</a:t>
            </a:r>
            <a:endParaRPr/>
          </a:p>
        </p:txBody>
      </p:sp>
      <p:sp>
        <p:nvSpPr>
          <p:cNvPr id="170" name="Google Shape;170;p20"/>
          <p:cNvSpPr txBox="1"/>
          <p:nvPr/>
        </p:nvSpPr>
        <p:spPr>
          <a:xfrm>
            <a:off x="6381750" y="2393913"/>
            <a:ext cx="5500687"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5F5F5"/>
                </a:solidFill>
                <a:latin typeface="Urbanist Medium"/>
                <a:ea typeface="Urbanist Medium"/>
                <a:cs typeface="Urbanist Medium"/>
                <a:sym typeface="Urbanist Medium"/>
              </a:rPr>
              <a:t>解決評估標準的不一致</a:t>
            </a:r>
            <a:endParaRPr/>
          </a:p>
        </p:txBody>
      </p:sp>
      <p:sp>
        <p:nvSpPr>
          <p:cNvPr id="171" name="Google Shape;171;p20"/>
          <p:cNvSpPr txBox="1"/>
          <p:nvPr/>
        </p:nvSpPr>
        <p:spPr>
          <a:xfrm>
            <a:off x="6381750" y="2955888"/>
            <a:ext cx="523875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CBD5E1"/>
                </a:solidFill>
                <a:latin typeface="Urbanist"/>
                <a:ea typeface="Urbanist"/>
                <a:cs typeface="Urbanist"/>
                <a:sym typeface="Urbanist"/>
              </a:rPr>
              <a:t>現有的評估資料集往往不夠完善。為了提供公正的測試基礎，研究團隊建構了全新的</a:t>
            </a:r>
            <a:r>
              <a:rPr lang="en-US" sz="1650" b="0" i="0" u="none" strike="noStrike" cap="none" dirty="0">
                <a:solidFill>
                  <a:srgbClr val="CBD5E1"/>
                </a:solidFill>
                <a:latin typeface="Urbanist"/>
                <a:ea typeface="Urbanist"/>
                <a:cs typeface="Urbanist"/>
                <a:sym typeface="Urbanist"/>
              </a:rPr>
              <a:t> </a:t>
            </a:r>
            <a:r>
              <a:rPr lang="en-US" sz="1650" b="0" i="0" u="none" strike="noStrike" cap="none" dirty="0" err="1">
                <a:solidFill>
                  <a:srgbClr val="CBD5E1"/>
                </a:solidFill>
                <a:latin typeface="Urbanist"/>
                <a:ea typeface="Urbanist"/>
                <a:cs typeface="Urbanist"/>
                <a:sym typeface="Urbanist"/>
              </a:rPr>
              <a:t>HAJailBench</a:t>
            </a:r>
            <a:r>
              <a:rPr lang="en-US" sz="1650" b="0" i="0" u="none" strike="noStrike" cap="none" dirty="0">
                <a:solidFill>
                  <a:srgbClr val="CBD5E1"/>
                </a:solidFill>
                <a:latin typeface="Urbanist"/>
                <a:ea typeface="Urbanist"/>
                <a:cs typeface="Urbanist"/>
                <a:sym typeface="Urbanist"/>
              </a:rPr>
              <a:t> </a:t>
            </a:r>
            <a:r>
              <a:rPr lang="en-US" sz="1650" b="0" i="0" u="none" strike="noStrike" cap="none" dirty="0" err="1">
                <a:solidFill>
                  <a:srgbClr val="CBD5E1"/>
                </a:solidFill>
                <a:latin typeface="Urbanist"/>
                <a:ea typeface="Urbanist"/>
                <a:cs typeface="Urbanist"/>
                <a:sym typeface="Urbanist"/>
              </a:rPr>
              <a:t>基準測試資料庫</a:t>
            </a:r>
            <a:r>
              <a:rPr lang="en-US" sz="1650" b="0" i="0" u="none" strike="noStrike" cap="none" dirty="0">
                <a:solidFill>
                  <a:srgbClr val="CBD5E1"/>
                </a:solidFill>
                <a:latin typeface="Urbanist"/>
                <a:ea typeface="Urbanist"/>
                <a:cs typeface="Urbanist"/>
                <a:sym typeface="Urbanist"/>
              </a:rPr>
              <a:t>。</a:t>
            </a:r>
            <a:endParaRPr dirty="0"/>
          </a:p>
        </p:txBody>
      </p:sp>
      <p:sp>
        <p:nvSpPr>
          <p:cNvPr id="172" name="Google Shape;172;p20"/>
          <p:cNvSpPr txBox="1"/>
          <p:nvPr/>
        </p:nvSpPr>
        <p:spPr>
          <a:xfrm>
            <a:off x="6381750" y="3961371"/>
            <a:ext cx="523875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該資料集廣泛涵蓋了 12 種知名的越獄攻擊方法與 11 種目標模型配置。最重要的是，全數資料皆經過嚴格的「兩輪人工審查」，確保最終決策與人類價值觀高度一致。</a:t>
            </a:r>
            <a:endParaRPr/>
          </a:p>
        </p:txBody>
      </p:sp>
      <p:sp>
        <p:nvSpPr>
          <p:cNvPr id="173" name="Google Shape;173;p20"/>
          <p:cNvSpPr txBox="1"/>
          <p:nvPr/>
        </p:nvSpPr>
        <p:spPr>
          <a:xfrm>
            <a:off x="571500" y="1346163"/>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建立高品質</a:t>
            </a:r>
            <a:r>
              <a:rPr lang="en-US" sz="3900" b="0" i="0" u="none" strike="noStrike" cap="none">
                <a:solidFill>
                  <a:srgbClr val="DEFF9A"/>
                </a:solidFill>
                <a:latin typeface="Urbanist Medium"/>
                <a:ea typeface="Urbanist Medium"/>
                <a:cs typeface="Urbanist Medium"/>
                <a:sym typeface="Urbanist Medium"/>
              </a:rPr>
              <a:t>評估基準</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7"/>
        <p:cNvGrpSpPr/>
        <p:nvPr/>
      </p:nvGrpSpPr>
      <p:grpSpPr>
        <a:xfrm>
          <a:off x="0" y="0"/>
          <a:ext cx="0" cy="0"/>
          <a:chOff x="0" y="0"/>
          <a:chExt cx="0" cy="0"/>
        </a:xfrm>
      </p:grpSpPr>
      <p:pic>
        <p:nvPicPr>
          <p:cNvPr id="178" name="Google Shape;17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21" descr="image.png"/>
          <p:cNvPicPr preferRelativeResize="0"/>
          <p:nvPr/>
        </p:nvPicPr>
        <p:blipFill rotWithShape="1">
          <a:blip r:embed="rId4">
            <a:alphaModFix/>
          </a:blip>
          <a:srcRect/>
          <a:stretch/>
        </p:blipFill>
        <p:spPr>
          <a:xfrm>
            <a:off x="571500" y="1261467"/>
            <a:ext cx="11049000" cy="5382964"/>
          </a:xfrm>
          <a:prstGeom prst="rect">
            <a:avLst/>
          </a:prstGeom>
          <a:noFill/>
          <a:ln>
            <a:noFill/>
          </a:ln>
        </p:spPr>
      </p:pic>
      <p:graphicFrame>
        <p:nvGraphicFramePr>
          <p:cNvPr id="180" name="Google Shape;180;p21"/>
          <p:cNvGraphicFramePr/>
          <p:nvPr>
            <p:extLst>
              <p:ext uri="{D42A27DB-BD31-4B8C-83A1-F6EECF244321}">
                <p14:modId xmlns:p14="http://schemas.microsoft.com/office/powerpoint/2010/main" val="25388338"/>
              </p:ext>
            </p:extLst>
          </p:nvPr>
        </p:nvGraphicFramePr>
        <p:xfrm>
          <a:off x="571500" y="1261467"/>
          <a:ext cx="11049000" cy="4152500"/>
        </p:xfrm>
        <a:graphic>
          <a:graphicData uri="http://schemas.openxmlformats.org/drawingml/2006/table">
            <a:tbl>
              <a:tblPr firstRow="1" bandRow="1">
                <a:noFill/>
                <a:tableStyleId>{E0B4A890-48B0-4043-9169-83751FDA643A}</a:tableStyleId>
              </a:tblPr>
              <a:tblGrid>
                <a:gridCol w="2212625">
                  <a:extLst>
                    <a:ext uri="{9D8B030D-6E8A-4147-A177-3AD203B41FA5}">
                      <a16:colId xmlns:a16="http://schemas.microsoft.com/office/drawing/2014/main" val="20000"/>
                    </a:ext>
                  </a:extLst>
                </a:gridCol>
                <a:gridCol w="2256375">
                  <a:extLst>
                    <a:ext uri="{9D8B030D-6E8A-4147-A177-3AD203B41FA5}">
                      <a16:colId xmlns:a16="http://schemas.microsoft.com/office/drawing/2014/main" val="20001"/>
                    </a:ext>
                  </a:extLst>
                </a:gridCol>
                <a:gridCol w="2940550">
                  <a:extLst>
                    <a:ext uri="{9D8B030D-6E8A-4147-A177-3AD203B41FA5}">
                      <a16:colId xmlns:a16="http://schemas.microsoft.com/office/drawing/2014/main" val="20002"/>
                    </a:ext>
                  </a:extLst>
                </a:gridCol>
                <a:gridCol w="3639450">
                  <a:extLst>
                    <a:ext uri="{9D8B030D-6E8A-4147-A177-3AD203B41FA5}">
                      <a16:colId xmlns:a16="http://schemas.microsoft.com/office/drawing/2014/main" val="20003"/>
                    </a:ext>
                  </a:extLst>
                </a:gridCol>
              </a:tblGrid>
              <a:tr h="830500">
                <a:tc>
                  <a:txBody>
                    <a:bodyPr/>
                    <a:lstStyle/>
                    <a:p>
                      <a:pPr marL="0" marR="0" lvl="0" indent="0" algn="ctr" rtl="0">
                        <a:spcBef>
                          <a:spcPts val="0"/>
                        </a:spcBef>
                        <a:spcAft>
                          <a:spcPts val="0"/>
                        </a:spcAft>
                        <a:buNone/>
                      </a:pPr>
                      <a:r>
                        <a:rPr lang="en-US" sz="1950" b="0" i="0" u="none" strike="noStrike" cap="none">
                          <a:solidFill>
                            <a:srgbClr val="DEFF9A"/>
                          </a:solidFill>
                          <a:latin typeface="Urbanist Medium"/>
                          <a:ea typeface="Urbanist Medium"/>
                          <a:cs typeface="Urbanist Medium"/>
                          <a:sym typeface="Urbanist Medium"/>
                        </a:rPr>
                        <a:t>攻擊手法</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ctr" rtl="0">
                        <a:spcBef>
                          <a:spcPts val="0"/>
                        </a:spcBef>
                        <a:spcAft>
                          <a:spcPts val="0"/>
                        </a:spcAft>
                        <a:buNone/>
                      </a:pPr>
                      <a:r>
                        <a:rPr lang="en-US" sz="1950" b="0" i="0" u="none" strike="noStrike" cap="none">
                          <a:solidFill>
                            <a:srgbClr val="DEFF9A"/>
                          </a:solidFill>
                          <a:latin typeface="Urbanist Medium"/>
                          <a:ea typeface="Urbanist Medium"/>
                          <a:cs typeface="Urbanist Medium"/>
                          <a:sym typeface="Urbanist Medium"/>
                        </a:rPr>
                        <a:t>存取層級</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ctr" rtl="0">
                        <a:spcBef>
                          <a:spcPts val="0"/>
                        </a:spcBef>
                        <a:spcAft>
                          <a:spcPts val="0"/>
                        </a:spcAft>
                        <a:buNone/>
                      </a:pPr>
                      <a:r>
                        <a:rPr lang="en-US" sz="1950" b="0" i="0" u="none" strike="noStrike" cap="none">
                          <a:solidFill>
                            <a:srgbClr val="DEFF9A"/>
                          </a:solidFill>
                          <a:latin typeface="Urbanist Medium"/>
                          <a:ea typeface="Urbanist Medium"/>
                          <a:cs typeface="Urbanist Medium"/>
                          <a:sym typeface="Urbanist Medium"/>
                        </a:rPr>
                        <a:t>策略類別</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ctr" rtl="0">
                        <a:spcBef>
                          <a:spcPts val="0"/>
                        </a:spcBef>
                        <a:spcAft>
                          <a:spcPts val="0"/>
                        </a:spcAft>
                        <a:buNone/>
                      </a:pPr>
                      <a:r>
                        <a:rPr lang="en-US" sz="1950" b="0" i="0" u="none" strike="noStrike" cap="none">
                          <a:solidFill>
                            <a:srgbClr val="DEFF9A"/>
                          </a:solidFill>
                          <a:latin typeface="Urbanist Medium"/>
                          <a:ea typeface="Urbanist Medium"/>
                          <a:cs typeface="Urbanist Medium"/>
                          <a:sym typeface="Urbanist Medium"/>
                        </a:rPr>
                        <a:t>攻擊成功率 (ASR)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extLst>
                  <a:ext uri="{0D108BD9-81ED-4DB2-BD59-A6C34878D82A}">
                    <a16:rowId xmlns:a16="http://schemas.microsoft.com/office/drawing/2014/main" val="10000"/>
                  </a:ext>
                </a:extLst>
              </a:tr>
              <a:tr h="830500">
                <a:tc>
                  <a:txBody>
                    <a:bodyPr/>
                    <a:lstStyle/>
                    <a:p>
                      <a:pPr marL="0" marR="0" lvl="0" indent="0" algn="ctr" rtl="0">
                        <a:spcBef>
                          <a:spcPts val="0"/>
                        </a:spcBef>
                        <a:spcAft>
                          <a:spcPts val="0"/>
                        </a:spcAft>
                        <a:buNone/>
                      </a:pPr>
                      <a:r>
                        <a:rPr lang="en-US" sz="1650" b="0" i="0" u="none" strike="noStrike" cap="none" dirty="0">
                          <a:solidFill>
                            <a:schemeClr val="tx1"/>
                          </a:solidFill>
                          <a:latin typeface="Urbanist"/>
                          <a:ea typeface="Urbanist"/>
                          <a:cs typeface="Urbanist"/>
                          <a:sym typeface="Urbanist"/>
                        </a:rPr>
                        <a:t>GCG</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dirty="0">
                          <a:solidFill>
                            <a:schemeClr val="tx1"/>
                          </a:solidFill>
                          <a:latin typeface="Urbanist"/>
                          <a:ea typeface="Urbanist"/>
                          <a:cs typeface="Urbanist"/>
                          <a:sym typeface="Urbanist"/>
                        </a:rPr>
                        <a:t>Token </a:t>
                      </a:r>
                      <a:r>
                        <a:rPr lang="en-US" sz="1650" b="0" i="0" u="none" strike="noStrike" cap="none" dirty="0" err="1">
                          <a:solidFill>
                            <a:schemeClr val="tx1"/>
                          </a:solidFill>
                          <a:latin typeface="Urbanist"/>
                          <a:ea typeface="Urbanist"/>
                          <a:cs typeface="Urbanist"/>
                          <a:sym typeface="Urbanist"/>
                        </a:rPr>
                        <a:t>層級</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dirty="0" err="1">
                          <a:solidFill>
                            <a:schemeClr val="tx1"/>
                          </a:solidFill>
                          <a:latin typeface="Urbanist"/>
                          <a:ea typeface="Urbanist"/>
                          <a:cs typeface="Urbanist"/>
                          <a:sym typeface="Urbanist"/>
                        </a:rPr>
                        <a:t>後綴亂碼修改</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0.067</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30500">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PAIR</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語意層級</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dirty="0" err="1">
                          <a:solidFill>
                            <a:schemeClr val="tx1"/>
                          </a:solidFill>
                          <a:latin typeface="Urbanist"/>
                          <a:ea typeface="Urbanist"/>
                          <a:cs typeface="Urbanist"/>
                          <a:sym typeface="Urbanist"/>
                        </a:rPr>
                        <a:t>單回合情境查詢</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dirty="0">
                          <a:solidFill>
                            <a:schemeClr val="tx1"/>
                          </a:solidFill>
                          <a:latin typeface="Urbanist"/>
                          <a:ea typeface="Urbanist"/>
                          <a:cs typeface="Urbanist"/>
                          <a:sym typeface="Urbanist"/>
                        </a:rPr>
                        <a:t>0.194</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30500">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AutoDan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語意層級</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a:solidFill>
                            <a:schemeClr val="tx1"/>
                          </a:solidFill>
                          <a:latin typeface="Urbanist"/>
                          <a:ea typeface="Urbanist"/>
                          <a:cs typeface="Urbanist"/>
                          <a:sym typeface="Urbanist"/>
                        </a:rPr>
                        <a:t>單回合情境查詢</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0" i="0" u="none" strike="noStrike" cap="none" dirty="0">
                          <a:solidFill>
                            <a:schemeClr val="tx1"/>
                          </a:solidFill>
                          <a:latin typeface="Urbanist"/>
                          <a:ea typeface="Urbanist"/>
                          <a:cs typeface="Urbanist"/>
                          <a:sym typeface="Urbanist"/>
                        </a:rPr>
                        <a:t>0.268</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830500">
                <a:tc>
                  <a:txBody>
                    <a:bodyPr/>
                    <a:lstStyle/>
                    <a:p>
                      <a:pPr marL="0" marR="0" lvl="0" indent="0" algn="ctr" rtl="0">
                        <a:spcBef>
                          <a:spcPts val="0"/>
                        </a:spcBef>
                        <a:spcAft>
                          <a:spcPts val="0"/>
                        </a:spcAft>
                        <a:buNone/>
                      </a:pPr>
                      <a:r>
                        <a:rPr lang="en-US" sz="1650" b="1" i="0" u="none" strike="noStrike" cap="none">
                          <a:solidFill>
                            <a:schemeClr val="tx1"/>
                          </a:solidFill>
                          <a:latin typeface="Urbanist"/>
                          <a:ea typeface="Urbanist"/>
                          <a:cs typeface="Urbanist"/>
                          <a:sym typeface="Urbanist"/>
                        </a:rPr>
                        <a:t>Actor</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1" i="0" u="none" strike="noStrike" cap="none">
                          <a:solidFill>
                            <a:schemeClr val="tx1"/>
                          </a:solidFill>
                          <a:latin typeface="Urbanist"/>
                          <a:ea typeface="Urbanist"/>
                          <a:cs typeface="Urbanist"/>
                          <a:sym typeface="Urbanist"/>
                        </a:rPr>
                        <a:t>語意層級</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50" b="1" i="0" u="none" strike="noStrike" cap="none">
                          <a:solidFill>
                            <a:schemeClr val="tx1"/>
                          </a:solidFill>
                          <a:latin typeface="Urbanist"/>
                          <a:ea typeface="Urbanist"/>
                          <a:cs typeface="Urbanist"/>
                          <a:sym typeface="Urbanist"/>
                        </a:rPr>
                        <a:t>多回合角色扮演</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100" b="1" i="0" u="none" strike="noStrike" cap="none" dirty="0">
                          <a:solidFill>
                            <a:srgbClr val="FF0000"/>
                          </a:solidFill>
                          <a:latin typeface="Urbanist"/>
                          <a:ea typeface="Urbanist"/>
                          <a:cs typeface="Urbanist"/>
                          <a:sym typeface="Urbanist"/>
                        </a:rPr>
                        <a:t>0.588</a:t>
                      </a:r>
                      <a:endParaRPr dirty="0">
                        <a:solidFill>
                          <a:srgbClr val="FF0000"/>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81" name="Google Shape;181;p21"/>
          <p:cNvSpPr/>
          <p:nvPr/>
        </p:nvSpPr>
        <p:spPr>
          <a:xfrm>
            <a:off x="571500" y="2110085"/>
            <a:ext cx="2212627"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21"/>
          <p:cNvSpPr/>
          <p:nvPr/>
        </p:nvSpPr>
        <p:spPr>
          <a:xfrm>
            <a:off x="2784127" y="2110085"/>
            <a:ext cx="2256383"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21"/>
          <p:cNvSpPr/>
          <p:nvPr/>
        </p:nvSpPr>
        <p:spPr>
          <a:xfrm>
            <a:off x="5040510" y="2110085"/>
            <a:ext cx="2940546"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21"/>
          <p:cNvSpPr/>
          <p:nvPr/>
        </p:nvSpPr>
        <p:spPr>
          <a:xfrm>
            <a:off x="7981057" y="2110085"/>
            <a:ext cx="3639442"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1"/>
          <p:cNvSpPr/>
          <p:nvPr/>
        </p:nvSpPr>
        <p:spPr>
          <a:xfrm>
            <a:off x="571500" y="2911971"/>
            <a:ext cx="2212627"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p:nvPr/>
        </p:nvSpPr>
        <p:spPr>
          <a:xfrm>
            <a:off x="2784127" y="2911971"/>
            <a:ext cx="2256383"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1"/>
          <p:cNvSpPr/>
          <p:nvPr/>
        </p:nvSpPr>
        <p:spPr>
          <a:xfrm>
            <a:off x="5040510" y="2911971"/>
            <a:ext cx="2940546"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21"/>
          <p:cNvSpPr/>
          <p:nvPr/>
        </p:nvSpPr>
        <p:spPr>
          <a:xfrm>
            <a:off x="7981057" y="2911971"/>
            <a:ext cx="3639442"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21"/>
          <p:cNvSpPr/>
          <p:nvPr/>
        </p:nvSpPr>
        <p:spPr>
          <a:xfrm>
            <a:off x="571500" y="3713857"/>
            <a:ext cx="2212627"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1"/>
          <p:cNvSpPr/>
          <p:nvPr/>
        </p:nvSpPr>
        <p:spPr>
          <a:xfrm>
            <a:off x="2784127" y="3713857"/>
            <a:ext cx="2256383"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21"/>
          <p:cNvSpPr/>
          <p:nvPr/>
        </p:nvSpPr>
        <p:spPr>
          <a:xfrm>
            <a:off x="5040510" y="3713857"/>
            <a:ext cx="2940546"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21"/>
          <p:cNvSpPr/>
          <p:nvPr/>
        </p:nvSpPr>
        <p:spPr>
          <a:xfrm>
            <a:off x="7981057" y="3713857"/>
            <a:ext cx="3639442"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21"/>
          <p:cNvSpPr/>
          <p:nvPr/>
        </p:nvSpPr>
        <p:spPr>
          <a:xfrm>
            <a:off x="571500" y="4515742"/>
            <a:ext cx="2212627"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21"/>
          <p:cNvSpPr/>
          <p:nvPr/>
        </p:nvSpPr>
        <p:spPr>
          <a:xfrm>
            <a:off x="2784127" y="4515742"/>
            <a:ext cx="2256383"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21"/>
          <p:cNvSpPr/>
          <p:nvPr/>
        </p:nvSpPr>
        <p:spPr>
          <a:xfrm>
            <a:off x="5040510" y="4515742"/>
            <a:ext cx="2940546"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1"/>
          <p:cNvSpPr/>
          <p:nvPr/>
        </p:nvSpPr>
        <p:spPr>
          <a:xfrm>
            <a:off x="7981057" y="4515742"/>
            <a:ext cx="3639442"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21"/>
          <p:cNvSpPr txBox="1"/>
          <p:nvPr/>
        </p:nvSpPr>
        <p:spPr>
          <a:xfrm>
            <a:off x="571500" y="213717"/>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多回合語意攻擊的</a:t>
            </a:r>
            <a:r>
              <a:rPr lang="en-US" sz="3900" b="0" i="0" u="none" strike="noStrike" cap="none">
                <a:solidFill>
                  <a:srgbClr val="DEFF9A"/>
                </a:solidFill>
                <a:latin typeface="Urbanist Medium"/>
                <a:ea typeface="Urbanist Medium"/>
                <a:cs typeface="Urbanist Medium"/>
                <a:sym typeface="Urbanist Medium"/>
              </a:rPr>
              <a:t>高危險性</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1"/>
        <p:cNvGrpSpPr/>
        <p:nvPr/>
      </p:nvGrpSpPr>
      <p:grpSpPr>
        <a:xfrm>
          <a:off x="0" y="0"/>
          <a:ext cx="0" cy="0"/>
          <a:chOff x="0" y="0"/>
          <a:chExt cx="0" cy="0"/>
        </a:xfrm>
      </p:grpSpPr>
      <p:pic>
        <p:nvPicPr>
          <p:cNvPr id="202" name="Google Shape;20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3" name="Google Shape;203;p22"/>
          <p:cNvSpPr/>
          <p:nvPr/>
        </p:nvSpPr>
        <p:spPr>
          <a:xfrm>
            <a:off x="5619750" y="4051994"/>
            <a:ext cx="952500" cy="47625"/>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22"/>
          <p:cNvSpPr txBox="1"/>
          <p:nvPr/>
        </p:nvSpPr>
        <p:spPr>
          <a:xfrm>
            <a:off x="3820715" y="4385369"/>
            <a:ext cx="4550568"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75" b="0" i="0" u="none" strike="noStrike" cap="none">
                <a:solidFill>
                  <a:srgbClr val="F5F5F5"/>
                </a:solidFill>
                <a:latin typeface="Urbanist Medium"/>
                <a:ea typeface="Urbanist Medium"/>
                <a:cs typeface="Urbanist Medium"/>
                <a:sym typeface="Urbanist Medium"/>
              </a:rPr>
              <a:t>成效驗證與</a:t>
            </a:r>
            <a:r>
              <a:rPr lang="en-US" sz="4875" b="0" i="0" u="none" strike="noStrike" cap="none">
                <a:solidFill>
                  <a:srgbClr val="DEFF9A"/>
                </a:solidFill>
                <a:latin typeface="Urbanist Medium"/>
                <a:ea typeface="Urbanist Medium"/>
                <a:cs typeface="Urbanist Medium"/>
                <a:sym typeface="Urbanist Medium"/>
              </a:rPr>
              <a:t>結論</a:t>
            </a:r>
            <a:endParaRPr/>
          </a:p>
        </p:txBody>
      </p:sp>
      <p:sp>
        <p:nvSpPr>
          <p:cNvPr id="205" name="Google Shape;205;p22"/>
          <p:cNvSpPr txBox="1"/>
          <p:nvPr/>
        </p:nvSpPr>
        <p:spPr>
          <a:xfrm>
            <a:off x="4114800" y="5652194"/>
            <a:ext cx="396240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DAFFDE"/>
                </a:solidFill>
                <a:latin typeface="Urbanist"/>
                <a:ea typeface="Urbanist"/>
                <a:cs typeface="Urbanist"/>
                <a:sym typeface="Urbanist"/>
              </a:rPr>
              <a:t>魚與熊掌兼得：成本與準確率的突破</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9"/>
        <p:cNvGrpSpPr/>
        <p:nvPr/>
      </p:nvGrpSpPr>
      <p:grpSpPr>
        <a:xfrm>
          <a:off x="0" y="0"/>
          <a:ext cx="0" cy="0"/>
          <a:chOff x="0" y="0"/>
          <a:chExt cx="0" cy="0"/>
        </a:xfrm>
      </p:grpSpPr>
      <p:pic>
        <p:nvPicPr>
          <p:cNvPr id="210" name="Google Shape;21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1" name="Google Shape;211;p23" descr="image.png"/>
          <p:cNvPicPr preferRelativeResize="0"/>
          <p:nvPr/>
        </p:nvPicPr>
        <p:blipFill rotWithShape="1">
          <a:blip r:embed="rId4">
            <a:alphaModFix/>
          </a:blip>
          <a:srcRect/>
          <a:stretch/>
        </p:blipFill>
        <p:spPr>
          <a:xfrm>
            <a:off x="571500" y="4777978"/>
            <a:ext cx="11049000" cy="1508521"/>
          </a:xfrm>
          <a:prstGeom prst="rect">
            <a:avLst/>
          </a:prstGeom>
          <a:noFill/>
          <a:ln>
            <a:noFill/>
          </a:ln>
        </p:spPr>
      </p:pic>
      <p:pic>
        <p:nvPicPr>
          <p:cNvPr id="212" name="Google Shape;212;p23" descr="image.png"/>
          <p:cNvPicPr preferRelativeResize="0"/>
          <p:nvPr/>
        </p:nvPicPr>
        <p:blipFill rotWithShape="1">
          <a:blip r:embed="rId5">
            <a:alphaModFix/>
          </a:blip>
          <a:srcRect/>
          <a:stretch/>
        </p:blipFill>
        <p:spPr>
          <a:xfrm>
            <a:off x="571500" y="1872853"/>
            <a:ext cx="11049000" cy="4413646"/>
          </a:xfrm>
          <a:prstGeom prst="rect">
            <a:avLst/>
          </a:prstGeom>
          <a:noFill/>
          <a:ln>
            <a:noFill/>
          </a:ln>
        </p:spPr>
      </p:pic>
      <p:pic>
        <p:nvPicPr>
          <p:cNvPr id="213" name="Google Shape;213;p23" descr="image.png"/>
          <p:cNvPicPr preferRelativeResize="0"/>
          <p:nvPr/>
        </p:nvPicPr>
        <p:blipFill rotWithShape="1">
          <a:blip r:embed="rId6">
            <a:alphaModFix/>
          </a:blip>
          <a:srcRect/>
          <a:stretch/>
        </p:blipFill>
        <p:spPr>
          <a:xfrm>
            <a:off x="7123509" y="5656064"/>
            <a:ext cx="916632" cy="133350"/>
          </a:xfrm>
          <a:prstGeom prst="rect">
            <a:avLst/>
          </a:prstGeom>
          <a:noFill/>
          <a:ln>
            <a:noFill/>
          </a:ln>
        </p:spPr>
      </p:pic>
      <p:pic>
        <p:nvPicPr>
          <p:cNvPr id="214" name="Google Shape;214;p23" descr="image.png"/>
          <p:cNvPicPr preferRelativeResize="0"/>
          <p:nvPr/>
        </p:nvPicPr>
        <p:blipFill rotWithShape="1">
          <a:blip r:embed="rId7">
            <a:alphaModFix/>
          </a:blip>
          <a:srcRect/>
          <a:stretch/>
        </p:blipFill>
        <p:spPr>
          <a:xfrm>
            <a:off x="6671071" y="6033194"/>
            <a:ext cx="916632" cy="133350"/>
          </a:xfrm>
          <a:prstGeom prst="rect">
            <a:avLst/>
          </a:prstGeom>
          <a:noFill/>
          <a:ln>
            <a:noFill/>
          </a:ln>
        </p:spPr>
      </p:pic>
      <p:sp>
        <p:nvSpPr>
          <p:cNvPr id="215" name="Google Shape;215;p23"/>
          <p:cNvSpPr/>
          <p:nvPr/>
        </p:nvSpPr>
        <p:spPr>
          <a:xfrm>
            <a:off x="4667250" y="-381000"/>
            <a:ext cx="4762500" cy="115341"/>
          </a:xfrm>
          <a:prstGeom prst="roundRect">
            <a:avLst>
              <a:gd name="adj" fmla="val 5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3"/>
          <p:cNvSpPr txBox="1"/>
          <p:nvPr/>
        </p:nvSpPr>
        <p:spPr>
          <a:xfrm>
            <a:off x="571500" y="825103"/>
            <a:ext cx="11601450"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0" i="0" u="none" strike="noStrike" cap="none">
                <a:solidFill>
                  <a:srgbClr val="F5F5F5"/>
                </a:solidFill>
                <a:latin typeface="Urbanist Medium"/>
                <a:ea typeface="Urbanist Medium"/>
                <a:cs typeface="Urbanist Medium"/>
                <a:sym typeface="Urbanist Medium"/>
              </a:rPr>
              <a:t>準確度與成本的</a:t>
            </a:r>
            <a:r>
              <a:rPr lang="en-US" sz="3900" b="0" i="0" u="none" strike="noStrike" cap="none">
                <a:solidFill>
                  <a:srgbClr val="DEFF9A"/>
                </a:solidFill>
                <a:latin typeface="Urbanist Medium"/>
                <a:ea typeface="Urbanist Medium"/>
                <a:cs typeface="Urbanist Medium"/>
                <a:sym typeface="Urbanist Medium"/>
              </a:rPr>
              <a:t>完美平衡</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263</Words>
  <Application>Microsoft Office PowerPoint</Application>
  <PresentationFormat>寬螢幕</PresentationFormat>
  <Paragraphs>57</Paragraphs>
  <Slides>11</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Urbanist Medium</vt:lpstr>
      <vt:lpstr>Calibri</vt:lpstr>
      <vt:lpstr>Urbanist</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mastertsai@outlook.com</cp:lastModifiedBy>
  <cp:revision>1</cp:revision>
  <dcterms:modified xsi:type="dcterms:W3CDTF">2026-06-02T08:27:29Z</dcterms:modified>
</cp:coreProperties>
</file>