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DM Sans" pitchFamily="2" charset="0"/>
      <p:regular r:id="rId13"/>
      <p:bold r:id="rId14"/>
      <p:italic r:id="rId15"/>
      <p:boldItalic r:id="rId16"/>
    </p:embeddedFont>
    <p:embeddedFont>
      <p:font typeface="DM Sans Medium" pitchFamily="2" charset="0"/>
      <p:regular r:id="rId17"/>
      <p:bold r:id="rId18"/>
      <p:italic r:id="rId19"/>
      <p:boldItalic r:id="rId20"/>
    </p:embeddedFont>
    <p:embeddedFont>
      <p:font typeface="Merriweather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E0483-6666-47C0-9824-463B9F80CBF6}" v="6" dt="2026-05-01T10:56:42.123"/>
  </p1510:revLst>
</p1510:revInfo>
</file>

<file path=ppt/tableStyles.xml><?xml version="1.0" encoding="utf-8"?>
<a:tblStyleLst xmlns:a="http://schemas.openxmlformats.org/drawingml/2006/main" def="{22C700EF-D57F-4422-8B65-D7685EDC8545}">
  <a:tblStyle styleId="{22C700EF-D57F-4422-8B65-D7685EDC854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tertsai@outlook.com" userId="e9d72a7dd8d43541" providerId="LiveId" clId="{C006AC16-6F5C-424B-9670-C28FAB9B523E}"/>
    <pc:docChg chg="undo custSel delSld modSld">
      <pc:chgData name="mastertsai@outlook.com" userId="e9d72a7dd8d43541" providerId="LiveId" clId="{C006AC16-6F5C-424B-9670-C28FAB9B523E}" dt="2026-05-01T10:57:30.414" v="21" actId="47"/>
      <pc:docMkLst>
        <pc:docMk/>
      </pc:docMkLst>
      <pc:sldChg chg="delSp modSp mod">
        <pc:chgData name="mastertsai@outlook.com" userId="e9d72a7dd8d43541" providerId="LiveId" clId="{C006AC16-6F5C-424B-9670-C28FAB9B523E}" dt="2026-04-30T17:06:16.515" v="15" actId="20577"/>
        <pc:sldMkLst>
          <pc:docMk/>
          <pc:sldMk cId="0" sldId="256"/>
        </pc:sldMkLst>
        <pc:spChg chg="mod">
          <ac:chgData name="mastertsai@outlook.com" userId="e9d72a7dd8d43541" providerId="LiveId" clId="{C006AC16-6F5C-424B-9670-C28FAB9B523E}" dt="2026-04-30T17:06:08.923" v="13" actId="404"/>
          <ac:spMkLst>
            <pc:docMk/>
            <pc:sldMk cId="0" sldId="256"/>
            <ac:spMk id="84" creationId="{00000000-0000-0000-0000-000000000000}"/>
          </ac:spMkLst>
        </pc:spChg>
        <pc:spChg chg="mod">
          <ac:chgData name="mastertsai@outlook.com" userId="e9d72a7dd8d43541" providerId="LiveId" clId="{C006AC16-6F5C-424B-9670-C28FAB9B523E}" dt="2026-04-30T17:06:16.515" v="15" actId="20577"/>
          <ac:spMkLst>
            <pc:docMk/>
            <pc:sldMk cId="0" sldId="256"/>
            <ac:spMk id="85" creationId="{00000000-0000-0000-0000-000000000000}"/>
          </ac:spMkLst>
        </pc:spChg>
        <pc:spChg chg="del">
          <ac:chgData name="mastertsai@outlook.com" userId="e9d72a7dd8d43541" providerId="LiveId" clId="{C006AC16-6F5C-424B-9670-C28FAB9B523E}" dt="2026-04-30T17:06:03.717" v="11" actId="478"/>
          <ac:spMkLst>
            <pc:docMk/>
            <pc:sldMk cId="0" sldId="256"/>
            <ac:spMk id="86" creationId="{00000000-0000-0000-0000-000000000000}"/>
          </ac:spMkLst>
        </pc:spChg>
      </pc:sldChg>
      <pc:sldChg chg="modSp mod">
        <pc:chgData name="mastertsai@outlook.com" userId="e9d72a7dd8d43541" providerId="LiveId" clId="{C006AC16-6F5C-424B-9670-C28FAB9B523E}" dt="2026-05-01T10:56:25.472" v="19" actId="207"/>
        <pc:sldMkLst>
          <pc:docMk/>
          <pc:sldMk cId="0" sldId="263"/>
        </pc:sldMkLst>
        <pc:graphicFrameChg chg="modGraphic">
          <ac:chgData name="mastertsai@outlook.com" userId="e9d72a7dd8d43541" providerId="LiveId" clId="{C006AC16-6F5C-424B-9670-C28FAB9B523E}" dt="2026-05-01T10:56:25.472" v="19" actId="207"/>
          <ac:graphicFrameMkLst>
            <pc:docMk/>
            <pc:sldMk cId="0" sldId="263"/>
            <ac:graphicFrameMk id="162" creationId="{00000000-0000-0000-0000-000000000000}"/>
          </ac:graphicFrameMkLst>
        </pc:graphicFrameChg>
      </pc:sldChg>
      <pc:sldChg chg="del">
        <pc:chgData name="mastertsai@outlook.com" userId="e9d72a7dd8d43541" providerId="LiveId" clId="{C006AC16-6F5C-424B-9670-C28FAB9B523E}" dt="2026-05-01T10:57:27.425" v="20" actId="47"/>
        <pc:sldMkLst>
          <pc:docMk/>
          <pc:sldMk cId="0" sldId="266"/>
        </pc:sldMkLst>
      </pc:sldChg>
      <pc:sldChg chg="del">
        <pc:chgData name="mastertsai@outlook.com" userId="e9d72a7dd8d43541" providerId="LiveId" clId="{C006AC16-6F5C-424B-9670-C28FAB9B523E}" dt="2026-05-01T10:57:30.414" v="21" actId="47"/>
        <pc:sldMkLst>
          <pc:docMk/>
          <pc:sldMk cId="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2418457"/>
            <a:ext cx="11601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4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使用 </a:t>
            </a:r>
            <a:r>
              <a:rPr lang="en-US" altLang="zh-TW" sz="4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RAG </a:t>
            </a:r>
            <a:r>
              <a:rPr lang="zh-TW" altLang="en-US" sz="4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輔助大型語言模型進行網路威脅情資對應</a:t>
            </a:r>
            <a:endParaRPr sz="1100" dirty="0"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3340447"/>
            <a:ext cx="11049000" cy="130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RAG-ATT&amp;CK : </a:t>
            </a:r>
            <a:r>
              <a:rPr lang="en-US" sz="1950" b="0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Exploring RAG-Assisted Mapping </a:t>
            </a:r>
            <a:r>
              <a:rPr lang="en-US" sz="1950" b="0" i="0" u="none" strike="noStrike" cap="none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of Cyber Threat Intelligence to MITRE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ATT&amp;CK Techniques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540347"/>
            <a:ext cx="952500" cy="381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4595812" y="2864197"/>
            <a:ext cx="3000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問題與挑戰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3705225" y="4016722"/>
            <a:ext cx="47815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為何對應 MITRE ATT&amp;CK 框架如此困難？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14475"/>
            <a:ext cx="5286375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514475"/>
            <a:ext cx="5286375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971550" y="1914525"/>
            <a:ext cx="4710588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01. 人工處理的極限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971550" y="2524125"/>
            <a:ext cx="44862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將非結構化的自然語言威脅情資 (CTI) 對應到標準的 MITRE ATT&amp;CK 框架是一項耗時且高度依賴專家的工作。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971550" y="3581400"/>
            <a:ext cx="44862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不同分析師之間的認知差異，容易導致標籤不一致或產生偏見，影響後續威脅防禦的準確性。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734175" y="1914525"/>
            <a:ext cx="4710588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02. 傳統機器的瓶頸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34175" y="2524125"/>
            <a:ext cx="44862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現有的自動化工具 (如 TRAM v1.3) 主要依賴「模型微調 (Fine-tuning)」或靜態規則。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34175" y="3276600"/>
            <a:ext cx="44862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微調需要大量的標註資料，且當駭客手法更新、ATT&amp;CK 框架擴充時，模型必須重新訓練，缺乏應對動態威脅的彈性。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目前網路威脅情資 (CTI) 處理的痛點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/>
        </p:nvSpPr>
        <p:spPr>
          <a:xfrm>
            <a:off x="571500" y="1947862"/>
            <a:ext cx="44196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5,089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571500" y="3424237"/>
            <a:ext cx="44196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測試句子總數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5467350" y="1514475"/>
            <a:ext cx="646080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高度複雜的多標籤分類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5467350" y="2124075"/>
            <a:ext cx="6153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本研究採用 MITRE 官方維護的 TRAM 多標籤資料集進行嚴格評估。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638800" y="25717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705475" y="2571750"/>
            <a:ext cx="59150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鎖定 </a:t>
            </a:r>
            <a:r>
              <a:rPr lang="en-US" sz="1500" b="1" i="0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50 個</a:t>
            </a:r>
            <a:r>
              <a:rPr lang="en-US" sz="1500" b="0" i="0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最常見的 ATT&amp;CK 技術標籤。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638800" y="30194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705475" y="3019425"/>
            <a:ext cx="59150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這是一個「多標籤分類 (Multi-label)」問題：一句話可能不包含任何技術，也可能同時涵蓋多種技術 (最高曾達 15 個)。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638800" y="37719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705475" y="3771900"/>
            <a:ext cx="59150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句子往往缺乏上下文，導致判斷極為困難。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實驗資料集規模 (TRAM v1.3)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5144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571500" y="1514475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結合檢索增強生成 (RAG) 與 LLM，無須微調即可動態對應：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742950" y="2375296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809625" y="2375296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1. 向量化 (Embedding)：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系統首先將 MITRE 框架中的技術定義與使用者的 CTI 句子轉換為數學向量。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742950" y="3127771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09625" y="3127771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2. 相似度搜尋：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在資料庫中利用餘弦相似度 (Cosine Similarity)，抓出與句子最相關的 Top-K 個攻擊技術。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742950" y="3880246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809625" y="3880246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3. 提示工程：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將這些過濾後的「技術標籤與定義」作為上下文提示 (Context) 餵給 LLM。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742950" y="4632721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09625" y="4632721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4. 最終推理：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LLM 根據事實資料，精準判斷該句子屬於哪些技術，避免模型幻覺。</a:t>
            </a:r>
            <a:endParaRPr/>
          </a:p>
        </p:txBody>
      </p:sp>
      <p:pic>
        <p:nvPicPr>
          <p:cNvPr id="136" name="Google Shape;13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1533525"/>
            <a:ext cx="5248275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解決方案：RAG-ATT&amp;CK 系統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/>
        </p:nvSpPr>
        <p:spPr>
          <a:xfrm>
            <a:off x="1809750" y="1514475"/>
            <a:ext cx="9048750" cy="102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描述精簡化 (Summarized Description)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直接給 LLM 過長的官方技術定義會導致「模型混淆 (Model Confusion)」。研究發現，使用經過摘要精簡的技術定義，能幫助模型更準確抓到重點，提升檢索召回率。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1809750" y="2823120"/>
            <a:ext cx="9048750" cy="103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優化向量模型 (ATTACK-BERT)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檢索機制的成敗取決於 Embedding 模型。實驗證明，使用具備資安領域知識的 ATTACK-BERT 模型，在關聯度搜尋上表現優於一般通用模型。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1809750" y="4141291"/>
            <a:ext cx="9048750" cy="102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少量樣本學習 (Few-Shot Learning)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在提示詞中加入三個標註範例 (單一標籤、多重標籤、無標籤)，這能幫助 LLM 大幅提升理解多標籤分類任務的能力，顯著提高 F1-Score。</a:t>
            </a:r>
            <a:endParaRPr/>
          </a:p>
        </p:txBody>
      </p:sp>
      <p:pic>
        <p:nvPicPr>
          <p:cNvPr id="145" name="Google Shape;14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500" y="152876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83740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4155578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核心優化策略 (Optimization Efforts)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5619750" y="2540347"/>
            <a:ext cx="9525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3995737" y="2864197"/>
            <a:ext cx="42005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實驗評估與結果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3967162" y="4016722"/>
            <a:ext cx="42576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RAG-ATT&amp;CK vs. Baseline vs. SOTA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14475"/>
            <a:ext cx="11049000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/>
          <p:nvPr/>
        </p:nvSpPr>
        <p:spPr>
          <a:xfrm>
            <a:off x="571500" y="1514475"/>
            <a:ext cx="11049000" cy="341173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2" name="Google Shape;162;p20"/>
          <p:cNvGraphicFramePr/>
          <p:nvPr>
            <p:extLst>
              <p:ext uri="{D42A27DB-BD31-4B8C-83A1-F6EECF244321}">
                <p14:modId xmlns:p14="http://schemas.microsoft.com/office/powerpoint/2010/main" val="312387300"/>
              </p:ext>
            </p:extLst>
          </p:nvPr>
        </p:nvGraphicFramePr>
        <p:xfrm>
          <a:off x="571500" y="1514475"/>
          <a:ext cx="11048975" cy="3411700"/>
        </p:xfrm>
        <a:graphic>
          <a:graphicData uri="http://schemas.openxmlformats.org/drawingml/2006/table">
            <a:tbl>
              <a:tblPr firstRow="1" bandRow="1">
                <a:noFill/>
                <a:tableStyleId>{22C700EF-D57F-4422-8B65-D7685EDC8545}</a:tableStyleId>
              </a:tblPr>
              <a:tblGrid>
                <a:gridCol w="450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 err="1">
                          <a:solidFill>
                            <a:schemeClr val="tx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系統</a:t>
                      </a:r>
                      <a:r>
                        <a:rPr lang="en-US" sz="1650" b="1" i="0" u="none" strike="noStrike" cap="none" dirty="0">
                          <a:solidFill>
                            <a:schemeClr val="tx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/模型配置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chemeClr val="tx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Precision (</a:t>
                      </a:r>
                      <a:r>
                        <a:rPr lang="en-US" sz="1650" b="1" i="0" u="none" strike="noStrike" cap="none" dirty="0" err="1">
                          <a:solidFill>
                            <a:schemeClr val="tx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準確率</a:t>
                      </a:r>
                      <a:r>
                        <a:rPr lang="en-US" sz="1650" b="1" i="0" u="none" strike="noStrike" cap="none" dirty="0">
                          <a:solidFill>
                            <a:schemeClr val="tx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chemeClr val="tx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Recall (</a:t>
                      </a:r>
                      <a:r>
                        <a:rPr lang="en-US" sz="1650" b="1" i="0" u="none" strike="noStrike" cap="none" dirty="0" err="1">
                          <a:solidFill>
                            <a:schemeClr val="tx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召回率</a:t>
                      </a:r>
                      <a:r>
                        <a:rPr lang="en-US" sz="1650" b="1" i="0" u="none" strike="noStrike" cap="none" dirty="0">
                          <a:solidFill>
                            <a:schemeClr val="tx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chemeClr val="tx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F1-Score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CA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Baseline LLM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無RAG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, Llama-3.3-70B)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5.96%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42.80%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9.25%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RAG-ATT&amp;CK (</a:t>
                      </a:r>
                      <a:r>
                        <a:rPr lang="en-US" sz="1500" b="1" i="0" u="none" strike="noStrike" cap="none" dirty="0" err="1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最佳表現</a:t>
                      </a: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br>
                        <a:rPr lang="en-US" sz="180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DeepSeek-R1-70B +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FewShot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+ Prompt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11CAA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16.35%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1CAA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63.96%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1CAA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23.93%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TRAM v1.3 (SOTA)</a:t>
                      </a:r>
                      <a:br>
                        <a:rPr lang="en-US" sz="180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Fine-tuned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SciBERT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微調模型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36.50%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21.20%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25.10%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3" name="Google Shape;163;p20"/>
          <p:cNvSpPr/>
          <p:nvPr/>
        </p:nvSpPr>
        <p:spPr>
          <a:xfrm>
            <a:off x="571500" y="2225873"/>
            <a:ext cx="4502199" cy="9525"/>
          </a:xfrm>
          <a:prstGeom prst="rect">
            <a:avLst/>
          </a:prstGeom>
          <a:solidFill>
            <a:srgbClr val="FD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073699" y="2225873"/>
            <a:ext cx="2703462" cy="9525"/>
          </a:xfrm>
          <a:prstGeom prst="rect">
            <a:avLst/>
          </a:prstGeom>
          <a:solidFill>
            <a:srgbClr val="FD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7777162" y="2225873"/>
            <a:ext cx="2279005" cy="9525"/>
          </a:xfrm>
          <a:prstGeom prst="rect">
            <a:avLst/>
          </a:prstGeom>
          <a:solidFill>
            <a:srgbClr val="FD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10056167" y="2225873"/>
            <a:ext cx="1564332" cy="9525"/>
          </a:xfrm>
          <a:prstGeom prst="rect">
            <a:avLst/>
          </a:prstGeom>
          <a:solidFill>
            <a:srgbClr val="FD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571500" y="2921198"/>
            <a:ext cx="4502199" cy="9525"/>
          </a:xfrm>
          <a:prstGeom prst="rect">
            <a:avLst/>
          </a:prstGeom>
          <a:solidFill>
            <a:srgbClr val="FD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5073699" y="2921198"/>
            <a:ext cx="2703462" cy="9525"/>
          </a:xfrm>
          <a:prstGeom prst="rect">
            <a:avLst/>
          </a:prstGeom>
          <a:solidFill>
            <a:srgbClr val="FD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7777162" y="2921198"/>
            <a:ext cx="2279005" cy="9525"/>
          </a:xfrm>
          <a:prstGeom prst="rect">
            <a:avLst/>
          </a:prstGeom>
          <a:solidFill>
            <a:srgbClr val="FD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0056167" y="2921198"/>
            <a:ext cx="1564332" cy="9525"/>
          </a:xfrm>
          <a:prstGeom prst="rect">
            <a:avLst/>
          </a:prstGeom>
          <a:solidFill>
            <a:srgbClr val="FD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571500" y="3921323"/>
            <a:ext cx="4502199" cy="9525"/>
          </a:xfrm>
          <a:prstGeom prst="rect">
            <a:avLst/>
          </a:prstGeom>
          <a:solidFill>
            <a:srgbClr val="FD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5073699" y="3921323"/>
            <a:ext cx="2703462" cy="9525"/>
          </a:xfrm>
          <a:prstGeom prst="rect">
            <a:avLst/>
          </a:prstGeom>
          <a:solidFill>
            <a:srgbClr val="FD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7777162" y="3921323"/>
            <a:ext cx="2279005" cy="9525"/>
          </a:xfrm>
          <a:prstGeom prst="rect">
            <a:avLst/>
          </a:prstGeom>
          <a:solidFill>
            <a:srgbClr val="FD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10056167" y="3921323"/>
            <a:ext cx="1564332" cy="9525"/>
          </a:xfrm>
          <a:prstGeom prst="rect">
            <a:avLst/>
          </a:prstGeom>
          <a:solidFill>
            <a:srgbClr val="FD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殘酷的效能對決 (Macro Average)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85900"/>
            <a:ext cx="11049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/>
          <p:nvPr/>
        </p:nvSpPr>
        <p:spPr>
          <a:xfrm>
            <a:off x="571500" y="5181600"/>
            <a:ext cx="11049000" cy="9906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762000" y="5372100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洞察：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微調模型 (深藍) 能將特定領域知識寫入權重，在「判斷是否正確 (Precision)」上具備統治力。而 RAG (藍綠) 受益於外部檢索，能廣泛抓出更多潛在特徵，擁有極高的「不漏抓能力 (Recall)」。</a:t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571500" y="5181600"/>
            <a:ext cx="38100" cy="9906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571500" y="542925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微調 (Fine-tuning) 與 RAG 的優勢比較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/>
        </p:nvSpPr>
        <p:spPr>
          <a:xfrm>
            <a:off x="571500" y="762000"/>
            <a:ext cx="5550693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總結與未來展望</a:t>
            </a:r>
            <a:endParaRPr/>
          </a:p>
        </p:txBody>
      </p:sp>
      <p:pic>
        <p:nvPicPr>
          <p:cNvPr id="190" name="Google Shape;19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 txBox="1"/>
          <p:nvPr/>
        </p:nvSpPr>
        <p:spPr>
          <a:xfrm>
            <a:off x="571500" y="170497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RAG 系統展現了極高的彈性：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571500" y="21526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無需繁瑣的重新訓練，只要更新資料庫，模型就能立刻具備最新的 ATT&amp;CK 知識，並且能對資訊來源進行追溯。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571500" y="310515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但面對多標籤分類的極限：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571500" y="35528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在高度密集、標籤重疊的 CTI 分類任務中，單靠提示詞工程與 RAG 仍難以讓 LLM 完美區分極度相似的技術定義。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571500" y="43053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未來方向可能在於：結合最新推理模型 (如 DeepSeek-R1) 進行「微調」，或是重新設計以段落為單位的評估機制。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426</Words>
  <Application>Microsoft Office PowerPoint</Application>
  <PresentationFormat>寬螢幕</PresentationFormat>
  <Paragraphs>64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Calibri</vt:lpstr>
      <vt:lpstr>DM Sans Medium</vt:lpstr>
      <vt:lpstr>Arial</vt:lpstr>
      <vt:lpstr>Merriweather</vt:lpstr>
      <vt:lpstr>DM Sans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mastertsai@outlook.com</cp:lastModifiedBy>
  <cp:revision>1</cp:revision>
  <dcterms:modified xsi:type="dcterms:W3CDTF">2026-05-01T12:11:20Z</dcterms:modified>
</cp:coreProperties>
</file>